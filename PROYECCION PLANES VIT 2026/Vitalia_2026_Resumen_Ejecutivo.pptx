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543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F5EA8">
              <a:alpha val="20000"/>
            </a:srgbClr>
          </a:solidFill>
          <a:ln w="12700">
            <a:solidFill>
              <a:srgbClr val="1F5E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85FA5">
              <a:alpha val="60000"/>
            </a:srgbClr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FFFFFF"/>
                </a:solidFill>
              </a:rPr>
              <a:t>CLÍNICA FOIANINI  ·  PROGRAMA VITALIA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Vitalia — Suscripciones 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" y="2212848"/>
            <a:ext cx="3200400" cy="2743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0" name="Text 8"/>
          <p:cNvSpPr/>
          <p:nvPr/>
        </p:nvSpPr>
        <p:spPr>
          <a:xfrm>
            <a:off x="621792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Enero – Abril 2026</a:t>
            </a:r>
            <a:r>
              <a:rPr lang="en-US" sz="1100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100" b="1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Mayo – Diciembre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65176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DA6FF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9808" y="301752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/>
              <a:t>META 2026</a:t>
            </a:r>
            <a:endParaRPr lang="en-US" sz="700" b="1" dirty="0"/>
          </a:p>
        </p:txBody>
      </p:sp>
      <p:sp>
        <p:nvSpPr>
          <p:cNvPr id="14" name="Text 11"/>
          <p:cNvSpPr/>
          <p:nvPr/>
        </p:nvSpPr>
        <p:spPr>
          <a:xfrm>
            <a:off x="73152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17,000 suscripciones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2926080"/>
            <a:ext cx="265176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DA6FF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75888" y="30175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690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/>
              <a:t>PRECIO UNITARIO</a:t>
            </a:r>
            <a:endParaRPr lang="en-US" sz="700" b="1" dirty="0"/>
          </a:p>
        </p:txBody>
      </p:sp>
      <p:sp>
        <p:nvSpPr>
          <p:cNvPr id="18" name="Text 14"/>
          <p:cNvSpPr/>
          <p:nvPr/>
        </p:nvSpPr>
        <p:spPr>
          <a:xfrm>
            <a:off x="365760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Bs 99 / suscripción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92240" y="2926080"/>
            <a:ext cx="265176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DA6FF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01968" y="30175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/>
              <a:t>CANALES ACTIVOS</a:t>
            </a:r>
            <a:endParaRPr lang="en-US" sz="700" b="1" dirty="0"/>
          </a:p>
        </p:txBody>
      </p:sp>
      <p:sp>
        <p:nvSpPr>
          <p:cNvPr id="22" name="Text 17"/>
          <p:cNvSpPr/>
          <p:nvPr/>
        </p:nvSpPr>
        <p:spPr>
          <a:xfrm>
            <a:off x="6583680" y="3401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Emergencias + Ambulatorio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41248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 / 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¿DÓNDE ESTAMOS HOY?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claves— proyección anual completa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1031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5214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11556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FFFFFF"/>
                </a:solidFill>
              </a:rPr>
              <a:t>TOTAL SUSCRIPCIONES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74320" y="16276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11,360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4320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acumulado + proyectado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42032" y="109728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4" name="Shape 11"/>
          <p:cNvSpPr/>
          <p:nvPr/>
        </p:nvSpPr>
        <p:spPr>
          <a:xfrm>
            <a:off x="2542032" y="1097280"/>
            <a:ext cx="210312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15214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9232" y="111556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FFFFFF"/>
                </a:solidFill>
              </a:rPr>
              <a:t>EMERGENCIAS 2026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542032" y="16276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4,446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542032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12 meses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809744" y="109728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0" name="Shape 16"/>
          <p:cNvSpPr/>
          <p:nvPr/>
        </p:nvSpPr>
        <p:spPr>
          <a:xfrm>
            <a:off x="4809744" y="1097280"/>
            <a:ext cx="2103120" cy="4572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15214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66944" y="111556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FFFFFF"/>
                </a:solidFill>
              </a:rPr>
              <a:t>AMBULATORIO 2026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4809744" y="16276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6,914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4809744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12 meses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077456" y="109728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6" name="Shape 21"/>
          <p:cNvSpPr/>
          <p:nvPr/>
        </p:nvSpPr>
        <p:spPr>
          <a:xfrm>
            <a:off x="7077456" y="1097280"/>
            <a:ext cx="2103120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1152144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34656" y="1115568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FFFFFF"/>
                </a:solidFill>
              </a:rPr>
              <a:t>INGRESO PROYECTADO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7077456" y="16276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 1,124,640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077456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 Bs 99 / suscripción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32" name="Text 26"/>
          <p:cNvSpPr/>
          <p:nvPr/>
        </p:nvSpPr>
        <p:spPr>
          <a:xfrm>
            <a:off x="457200" y="3218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374151"/>
                </a:solidFill>
              </a:rPr>
              <a:t>PROGRESO HACIA LA META DE 17,000 SUSCRIPCIONES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57200" y="3584448"/>
            <a:ext cx="82296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4" name="Shape 28"/>
          <p:cNvSpPr/>
          <p:nvPr/>
        </p:nvSpPr>
        <p:spPr>
          <a:xfrm>
            <a:off x="457200" y="3584448"/>
            <a:ext cx="5497373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5" name="Text 29"/>
          <p:cNvSpPr/>
          <p:nvPr/>
        </p:nvSpPr>
        <p:spPr>
          <a:xfrm>
            <a:off x="457200" y="3584448"/>
            <a:ext cx="5029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66.8%  →  11,360 de 17,000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3968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0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7315200" y="3968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F3864"/>
                </a:solidFill>
              </a:rPr>
              <a:t>Meta: 17,000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3200400" y="39684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</a:rPr>
              <a:t>Faltan  5,640  suscripciones para alcanzar la meta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REALES — ENERO A ABRIL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D4"/>
                </a:solidFill>
              </a:rPr>
              <a:t>Únicos datos confirmados del año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0" y="274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01168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Text 6"/>
          <p:cNvSpPr/>
          <p:nvPr/>
        </p:nvSpPr>
        <p:spPr>
          <a:xfrm>
            <a:off x="228600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TOTAL SUSCRIPCIONES REALES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2,839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D5DB"/>
                </a:solidFill>
              </a:rPr>
              <a:t>Ene–Abr 2026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04872" y="1078992"/>
            <a:ext cx="201168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2" name="Text 10"/>
          <p:cNvSpPr/>
          <p:nvPr/>
        </p:nvSpPr>
        <p:spPr>
          <a:xfrm>
            <a:off x="2404872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EMERGENCIAS REALES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404872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1,063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0487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D5DB"/>
                </a:solidFill>
              </a:rPr>
              <a:t>conv. 22.2%  (vs 35.3% en 2025)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81144" y="1078992"/>
            <a:ext cx="2011680" cy="7772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6" name="Text 14"/>
          <p:cNvSpPr/>
          <p:nvPr/>
        </p:nvSpPr>
        <p:spPr>
          <a:xfrm>
            <a:off x="4581144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AMBULATORIO REAL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81144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81144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D5DB"/>
                </a:solidFill>
              </a:rPr>
              <a:t>conv. 15.2%  (récord: 32% Nov 2025)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57416" y="1078992"/>
            <a:ext cx="2011680" cy="777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0" name="Text 18"/>
          <p:cNvSpPr/>
          <p:nvPr/>
        </p:nvSpPr>
        <p:spPr>
          <a:xfrm>
            <a:off x="6757416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INGRESO CONFIRMADO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757416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 281,061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57416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D5DB"/>
                </a:solidFill>
              </a:rPr>
              <a:t>primeros 4 meses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19659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4" name="Shape 22"/>
          <p:cNvSpPr/>
          <p:nvPr/>
        </p:nvSpPr>
        <p:spPr>
          <a:xfrm>
            <a:off x="228600" y="1965960"/>
            <a:ext cx="41148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02536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EMERGENCIAS — Conversión real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258568"/>
          <a:ext cx="4114800" cy="175564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Marzo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228600" y="4562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91B1B"/>
                </a:solidFill>
              </a:rPr>
              <a:t>⚠  Feb y Mar: caída de conversión a pesar de mayor volumen de visitas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572000" y="1965960"/>
            <a:ext cx="4343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30" name="Shape 26"/>
          <p:cNvSpPr/>
          <p:nvPr/>
        </p:nvSpPr>
        <p:spPr>
          <a:xfrm>
            <a:off x="4572000" y="1965960"/>
            <a:ext cx="4343400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002536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892040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AMBULATORIO — Conversión real</a:t>
            </a:r>
            <a:endParaRPr lang="en-US" sz="8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258568"/>
          <a:ext cx="4343400" cy="1755648"/>
        </p:xfrm>
        <a:graphic>
          <a:graphicData uri="http://schemas.openxmlformats.org/drawingml/2006/table">
            <a:tbl>
              <a:tblPr/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Marzo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 28"/>
          <p:cNvSpPr/>
          <p:nvPr/>
        </p:nvSpPr>
        <p:spPr>
          <a:xfrm>
            <a:off x="4572000" y="45628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B6B3A"/>
                </a:solidFill>
              </a:rPr>
              <a:t>Récord histórico: 32.0% (Noviembre 2025 — Black Friday Bs 79)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PROYECCIÓN MES A MES — AÑO COMPLETO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8D4"/>
                </a:solidFill>
              </a:rPr>
              <a:t>Azul = datos reales confirmados  ·  Gris cursiva = proyección basada en historial 2025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24128"/>
          <a:ext cx="7315200" cy="3840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Vis. Emerg.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Sus. 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Vis. Amb.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Sus. 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Enero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8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Marzo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Abril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112.266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Octubre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125.829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149.490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119.493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 1.124.640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4828032"/>
            <a:ext cx="201168" cy="146304"/>
          </a:xfrm>
          <a:prstGeom prst="rect">
            <a:avLst/>
          </a:prstGeom>
          <a:solidFill>
            <a:srgbClr val="D6E8F9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9" name="Text 6"/>
          <p:cNvSpPr/>
          <p:nvPr/>
        </p:nvSpPr>
        <p:spPr>
          <a:xfrm>
            <a:off x="475488" y="48188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85FA5"/>
                </a:solidFill>
              </a:rPr>
              <a:t>Datos reales confirmados  ✓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0" y="48280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1" name="Text 8"/>
          <p:cNvSpPr/>
          <p:nvPr/>
        </p:nvSpPr>
        <p:spPr>
          <a:xfrm>
            <a:off x="3904488" y="48188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Proyección (basada en historial 2025)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 2025 — BASE DE LA PROYECCIÓN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</a:rPr>
              <a:t>Resultados reales del año anterior — cuando el programa ya estaba activo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868680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8813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02412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B8D4"/>
                </a:solidFill>
              </a:rPr>
              <a:t>Vitalia + Emergencias:</a:t>
            </a:r>
            <a:r>
              <a:rPr lang="en-US" sz="1000" dirty="0">
                <a:solidFill>
                  <a:srgbClr val="FFFFFF"/>
                </a:solidFill>
              </a:rPr>
              <a:t> inició Mayo 2025  (8 meses activo en 2025)</a:t>
            </a:r>
            <a:r>
              <a:rPr lang="en-US" sz="1000" dirty="0">
                <a:solidFill>
                  <a:srgbClr val="4DA6FF"/>
                </a:solidFill>
              </a:rPr>
              <a:t>          |          </a:t>
            </a:r>
            <a:r>
              <a:rPr lang="en-US" sz="1000" b="1" dirty="0">
                <a:solidFill>
                  <a:srgbClr val="9BB8D4"/>
                </a:solidFill>
              </a:rPr>
              <a:t>Vitalia + Ambulatorio:</a:t>
            </a:r>
            <a:r>
              <a:rPr lang="en-US" sz="1000" dirty="0">
                <a:solidFill>
                  <a:srgbClr val="FFFFFF"/>
                </a:solidFill>
              </a:rPr>
              <a:t> inició Agosto 2025  (5 meses activo en 2025)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8600" y="1737360"/>
            <a:ext cx="4160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1" name="Shape 8"/>
          <p:cNvSpPr/>
          <p:nvPr/>
        </p:nvSpPr>
        <p:spPr>
          <a:xfrm>
            <a:off x="228600" y="1737360"/>
            <a:ext cx="4160520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2" name="Text 9"/>
          <p:cNvSpPr/>
          <p:nvPr/>
        </p:nvSpPr>
        <p:spPr>
          <a:xfrm>
            <a:off x="36576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EMERGENCIAS — Mayo a Dic 2025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011680"/>
          <a:ext cx="4160520" cy="2468880"/>
        </p:xfrm>
        <a:graphic>
          <a:graphicData uri="http://schemas.openxmlformats.org/drawingml/2006/table">
            <a:tbl>
              <a:tblPr/>
              <a:tblGrid>
                <a:gridCol w="104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Octubre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663440" y="1737360"/>
            <a:ext cx="4251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5" name="Shape 11"/>
          <p:cNvSpPr/>
          <p:nvPr/>
        </p:nvSpPr>
        <p:spPr>
          <a:xfrm>
            <a:off x="4663440" y="1737360"/>
            <a:ext cx="4251960" cy="27432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6" name="Text 12"/>
          <p:cNvSpPr/>
          <p:nvPr/>
        </p:nvSpPr>
        <p:spPr>
          <a:xfrm>
            <a:off x="48006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AMBULATORIO — Agosto a Dic 2025</a:t>
            </a:r>
            <a:endParaRPr lang="en-US" sz="8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011680"/>
          <a:ext cx="4251960" cy="1728216"/>
        </p:xfrm>
        <a:graphic>
          <a:graphicData uri="http://schemas.openxmlformats.org/drawingml/2006/table">
            <a:tbl>
              <a:tblPr/>
              <a:tblGrid>
                <a:gridCol w="1062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Octubre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949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4663440" y="4361688"/>
            <a:ext cx="4251960" cy="530352"/>
          </a:xfrm>
          <a:prstGeom prst="rect">
            <a:avLst/>
          </a:prstGeom>
          <a:solidFill>
            <a:srgbClr val="1C1917"/>
          </a:solidFill>
          <a:ln w="12700">
            <a:solidFill>
              <a:srgbClr val="EAB30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442569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4920" y="4361688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EAB308"/>
                </a:solidFill>
              </a:rPr>
              <a:t>BLACK FRIDAY Nov 2025</a:t>
            </a:r>
            <a:r>
              <a:rPr lang="en-US" sz="850" dirty="0">
                <a:solidFill>
                  <a:srgbClr val="FDE68A"/>
                </a:solidFill>
              </a:rPr>
              <a:t> — Precio especial Bs 79 (ambos planes):</a:t>
            </a:r>
            <a:r>
              <a:rPr lang="en-US" sz="850" b="1" dirty="0">
                <a:solidFill>
                  <a:srgbClr val="FFFFFF"/>
                </a:solidFill>
              </a:rPr>
              <a:t> récord de 949 suscrip. en ambulatorio (32.0% conversión)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COMPARATIVO 2025 vs 2026 — ESCENARIOS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</a:rPr>
              <a:t>Crecimiento respecto al año anterior y rangos posibles de resultado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8686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24128"/>
          <a:ext cx="868680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real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activos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proyectado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meses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+1,180 (+36.1%)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Ambulatorio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+4,250 (+159.6%)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suscripciones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+5,430 (+91.6%)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 587,070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 1,124,640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+Bs 537,570 (+91.6%)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0175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0" name="Shape 7"/>
          <p:cNvSpPr/>
          <p:nvPr/>
        </p:nvSpPr>
        <p:spPr>
          <a:xfrm>
            <a:off x="228600" y="3017520"/>
            <a:ext cx="283464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1" name="Text 8"/>
          <p:cNvSpPr/>
          <p:nvPr/>
        </p:nvSpPr>
        <p:spPr>
          <a:xfrm>
            <a:off x="228600" y="3017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CONSERVADOR  −15%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28600" y="34015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9,656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2860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</a:rPr>
              <a:t>Bs 955,944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8600" y="43159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Escenario pesimista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30175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6" name="Shape 13"/>
          <p:cNvSpPr/>
          <p:nvPr/>
        </p:nvSpPr>
        <p:spPr>
          <a:xfrm>
            <a:off x="3291840" y="3017520"/>
            <a:ext cx="283464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7" name="Text 14"/>
          <p:cNvSpPr/>
          <p:nvPr/>
        </p:nvSpPr>
        <p:spPr>
          <a:xfrm>
            <a:off x="3291840" y="3017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PROYECCIÓN ACTUAL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91840" y="34015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11,360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29184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</a:rPr>
              <a:t>Bs 1,124,640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91840" y="43159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Base del dashboard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355080" y="3017520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2" name="Shape 19"/>
          <p:cNvSpPr/>
          <p:nvPr/>
        </p:nvSpPr>
        <p:spPr>
          <a:xfrm>
            <a:off x="6355080" y="3017520"/>
            <a:ext cx="2834640" cy="34747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3" name="Text 20"/>
          <p:cNvSpPr/>
          <p:nvPr/>
        </p:nvSpPr>
        <p:spPr>
          <a:xfrm>
            <a:off x="6355080" y="3017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OPTIMISTA  +15%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355080" y="34015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13,064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35508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6B3A"/>
                </a:solidFill>
              </a:rPr>
              <a:t>Bs 1,293,336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55080" y="43159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Con campaña activa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-1828800" y="3200400"/>
            <a:ext cx="4572000" cy="3657600"/>
          </a:xfrm>
          <a:prstGeom prst="ellipse">
            <a:avLst/>
          </a:prstGeom>
          <a:solidFill>
            <a:srgbClr val="1B4332">
              <a:alpha val="30000"/>
            </a:srgbClr>
          </a:solidFill>
          <a:ln w="12700">
            <a:solidFill>
              <a:srgbClr val="1B433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BRECHA Y PUNTOS CLAVE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27432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8686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22960"/>
          <a:ext cx="7772400" cy="13167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Proyección 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progreso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llegar a 17,000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activa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Techo teórico (récords)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difícil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28600" y="24231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* 62% en Emergencias supera el récord histórico (48%). La meta de 17,000 requiere estrategia comercial activa.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28600" y="2715768"/>
            <a:ext cx="2697480" cy="2240280"/>
          </a:xfrm>
          <a:prstGeom prst="rect">
            <a:avLst/>
          </a:prstGeom>
          <a:solidFill>
            <a:srgbClr val="052E16"/>
          </a:solidFill>
          <a:ln w="12700">
            <a:solidFill>
              <a:srgbClr val="4ADE80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1" name="Shape 8"/>
          <p:cNvSpPr/>
          <p:nvPr/>
        </p:nvSpPr>
        <p:spPr>
          <a:xfrm>
            <a:off x="228600" y="2715768"/>
            <a:ext cx="2697480" cy="320040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523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" y="2715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/>
              <a:t>AMBULATORIO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20040" y="3090672"/>
            <a:ext cx="2514600" cy="17922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Mayor potencial: 34,870 visitas proyectadas (2.5× más que Emergencias). Si sostiene 32% de conversión (récord Black Friday Nov 2025 con Bs 79), suma ~11,158 suscripciones.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127248" y="2715768"/>
            <a:ext cx="2697480" cy="2240280"/>
          </a:xfrm>
          <a:prstGeom prst="rect">
            <a:avLst/>
          </a:prstGeom>
          <a:solidFill>
            <a:srgbClr val="0C1A3A"/>
          </a:solidFill>
          <a:ln w="12700">
            <a:solidFill>
              <a:srgbClr val="60A5FA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6" name="Shape 12"/>
          <p:cNvSpPr/>
          <p:nvPr/>
        </p:nvSpPr>
        <p:spPr>
          <a:xfrm>
            <a:off x="3127248" y="2715768"/>
            <a:ext cx="2697480" cy="32004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75234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93008" y="2715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/>
              <a:t>EMERGENCIAS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218688" y="3090672"/>
            <a:ext cx="2514600" cy="17922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Con 13,725 visitas y conversión récord del 48%, el techo es ~6,588 suscrip. Conversión real Ene–Abr 2026 = 22.2%, por debajo del 35.3% promedio 2025. Recuperar esa tasa es prioritario.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025896" y="2715768"/>
            <a:ext cx="2697480" cy="2240280"/>
          </a:xfrm>
          <a:prstGeom prst="rect">
            <a:avLst/>
          </a:prstGeom>
          <a:solidFill>
            <a:srgbClr val="3B0A0A"/>
          </a:solidFill>
          <a:ln w="12700">
            <a:solidFill>
              <a:srgbClr val="FCA5A5">
                <a:alpha val="4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1" name="Shape 16"/>
          <p:cNvSpPr/>
          <p:nvPr/>
        </p:nvSpPr>
        <p:spPr>
          <a:xfrm>
            <a:off x="6025896" y="2715768"/>
            <a:ext cx="2697480" cy="320040"/>
          </a:xfrm>
          <a:prstGeom prst="rect">
            <a:avLst/>
          </a:prstGeom>
          <a:solidFill>
            <a:srgbClr val="FCA5A5">
              <a:alpha val="80000"/>
            </a:srgbClr>
          </a:solidFill>
          <a:ln w="12700">
            <a:solidFill>
              <a:srgbClr val="FCA5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117336" y="275234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91656" y="2715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/>
              <a:t>ALERTA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6117336" y="3090672"/>
            <a:ext cx="2514600" cy="17922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Sin acciones comerciales activas, el dashboard proyecta ~5,300 suscripciones anuales. La proyección de 11,360 requiere mejoras graduales sostenidas en ambos canales.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6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Clínica Foianini  ·  Programa Vitalia 2026  ·  Resumen Ejecutivo  ·  Todos los datos extraídos del Dashboard oficial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945</Words>
  <Application>Microsoft Office PowerPoint</Application>
  <PresentationFormat>Presentación en pantalla (16:9)</PresentationFormat>
  <Paragraphs>383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Vitalia 2026 — Resumen Ejecutivo</dc:title>
  <dc:subject>PptxGenJS Presentation</dc:subject>
  <dc:creator>Clínica Foianini</dc:creator>
  <cp:lastModifiedBy>banina antezana</cp:lastModifiedBy>
  <cp:revision>4</cp:revision>
  <dcterms:created xsi:type="dcterms:W3CDTF">2026-04-19T22:18:49Z</dcterms:created>
  <dcterms:modified xsi:type="dcterms:W3CDTF">2026-04-19T23:25:43Z</dcterms:modified>
</cp:coreProperties>
</file>