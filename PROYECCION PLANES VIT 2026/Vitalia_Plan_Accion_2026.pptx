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2" autoAdjust="0"/>
    <p:restoredTop sz="84957" autoAdjust="0"/>
  </p:normalViewPr>
  <p:slideViewPr>
    <p:cSldViewPr snapToGrid="0" snapToObjects="1">
      <p:cViewPr varScale="1">
        <p:scale>
          <a:sx n="91" d="100"/>
          <a:sy n="91" d="100"/>
        </p:scale>
        <p:origin x="60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5877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3" name="Shape 1"/>
          <p:cNvSpPr/>
          <p:nvPr/>
        </p:nvSpPr>
        <p:spPr>
          <a:xfrm>
            <a:off x="5943600" y="-1097280"/>
            <a:ext cx="4572000" cy="4572000"/>
          </a:xfrm>
          <a:prstGeom prst="line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1E293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4" name="Shape 2"/>
          <p:cNvSpPr/>
          <p:nvPr/>
        </p:nvSpPr>
        <p:spPr>
          <a:xfrm>
            <a:off x="-1371600" y="2743200"/>
            <a:ext cx="3657600" cy="3657600"/>
          </a:xfrm>
          <a:prstGeom prst="line">
            <a:avLst/>
          </a:prstGeom>
          <a:solidFill>
            <a:srgbClr val="0C2A4A">
              <a:alpha val="50000"/>
            </a:srgbClr>
          </a:solidFill>
          <a:ln w="12700">
            <a:solidFill>
              <a:srgbClr val="0C2A4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5" name="Shape 3"/>
          <p:cNvSpPr/>
          <p:nvPr/>
        </p:nvSpPr>
        <p:spPr>
          <a:xfrm>
            <a:off x="228600" y="457200"/>
            <a:ext cx="2926080" cy="320040"/>
          </a:xfrm>
          <a:prstGeom prst="rect">
            <a:avLst/>
          </a:prstGeom>
          <a:solidFill>
            <a:srgbClr val="185FA5">
              <a:alpha val="70000"/>
            </a:srgbClr>
          </a:solidFill>
          <a:ln w="12700">
            <a:solidFill>
              <a:srgbClr val="4DA6FF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6" name="Text 4"/>
          <p:cNvSpPr/>
          <p:nvPr/>
        </p:nvSpPr>
        <p:spPr>
          <a:xfrm>
            <a:off x="228600" y="457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100" dirty="0">
                <a:solidFill>
                  <a:srgbClr val="FFFFFF"/>
                </a:solidFill>
              </a:rPr>
              <a:t>CLÍNICA FOIANINI  ·  PROGRAMA VITALIA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74320" y="960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de Acción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74320" y="171907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incrementar las suscripciones Vitalia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2194560"/>
            <a:ext cx="3657600" cy="36576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10" name="Text 8"/>
          <p:cNvSpPr/>
          <p:nvPr/>
        </p:nvSpPr>
        <p:spPr>
          <a:xfrm>
            <a:off x="274320" y="234086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B8D4"/>
                </a:solidFill>
              </a:rPr>
              <a:t>Basado en:</a:t>
            </a:r>
            <a:r>
              <a:rPr lang="en-US" sz="1000" dirty="0">
                <a:solidFill>
                  <a:srgbClr val="FFFFFF"/>
                </a:solidFill>
              </a:rPr>
              <a:t>  datos reales Ene–Abr 2026  ·  objetivos por área  ·  contexto operativo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834640"/>
            <a:ext cx="274320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sp>
        <p:nvSpPr>
          <p:cNvPr id="12" name="Shape 10"/>
          <p:cNvSpPr/>
          <p:nvPr/>
        </p:nvSpPr>
        <p:spPr>
          <a:xfrm>
            <a:off x="274320" y="2834640"/>
            <a:ext cx="2743200" cy="347472"/>
          </a:xfrm>
          <a:prstGeom prst="rect">
            <a:avLst/>
          </a:prstGeom>
          <a:solidFill>
            <a:srgbClr val="185FA5">
              <a:alpha val="80000"/>
            </a:srgbClr>
          </a:solidFill>
          <a:ln w="12700">
            <a:solidFill>
              <a:srgbClr val="185FA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889504"/>
            <a:ext cx="237744" cy="23774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58368" y="28346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chemeClr val="bg1"/>
                </a:solidFill>
              </a:rPr>
              <a:t>META MENSUAL</a:t>
            </a: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365760" y="327355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800 suscrip.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3200400" y="2834640"/>
            <a:ext cx="274320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sp>
        <p:nvSpPr>
          <p:cNvPr id="17" name="Shape 14"/>
          <p:cNvSpPr/>
          <p:nvPr/>
        </p:nvSpPr>
        <p:spPr>
          <a:xfrm>
            <a:off x="3200400" y="2834640"/>
            <a:ext cx="2743200" cy="347472"/>
          </a:xfrm>
          <a:prstGeom prst="rect">
            <a:avLst/>
          </a:prstGeom>
          <a:solidFill>
            <a:srgbClr val="185FA5">
              <a:alpha val="80000"/>
            </a:srgbClr>
          </a:solidFill>
          <a:ln w="12700">
            <a:solidFill>
              <a:srgbClr val="185FA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2889504"/>
            <a:ext cx="237744" cy="23774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84448" y="28346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chemeClr val="bg1"/>
                </a:solidFill>
              </a:rPr>
              <a:t>ÁREAS ACTIVAS</a:t>
            </a: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20" name="Text 16"/>
          <p:cNvSpPr/>
          <p:nvPr/>
        </p:nvSpPr>
        <p:spPr>
          <a:xfrm>
            <a:off x="3291840" y="327355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equipos</a:t>
            </a:r>
            <a:endParaRPr lang="en-US" sz="1350" dirty="0"/>
          </a:p>
        </p:txBody>
      </p:sp>
      <p:sp>
        <p:nvSpPr>
          <p:cNvPr id="21" name="Shape 17"/>
          <p:cNvSpPr/>
          <p:nvPr/>
        </p:nvSpPr>
        <p:spPr>
          <a:xfrm>
            <a:off x="6126480" y="2834640"/>
            <a:ext cx="274320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sp>
        <p:nvSpPr>
          <p:cNvPr id="22" name="Shape 18"/>
          <p:cNvSpPr/>
          <p:nvPr/>
        </p:nvSpPr>
        <p:spPr>
          <a:xfrm>
            <a:off x="6126480" y="2834640"/>
            <a:ext cx="2743200" cy="347472"/>
          </a:xfrm>
          <a:prstGeom prst="rect">
            <a:avLst/>
          </a:prstGeom>
          <a:solidFill>
            <a:srgbClr val="185FA5">
              <a:alpha val="80000"/>
            </a:srgbClr>
          </a:solidFill>
          <a:ln w="12700">
            <a:solidFill>
              <a:srgbClr val="185FA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2889504"/>
            <a:ext cx="237744" cy="23774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510528" y="28346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chemeClr val="bg1"/>
                </a:solidFill>
              </a:rPr>
              <a:t>CANALES DE VENTA</a:t>
            </a: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25" name="Text 20"/>
          <p:cNvSpPr/>
          <p:nvPr/>
        </p:nvSpPr>
        <p:spPr>
          <a:xfrm>
            <a:off x="6217920" y="327355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Wolkvox - WhatsApp · Llamadas · Presencial</a:t>
            </a:r>
            <a:endParaRPr lang="en-US" sz="1350" dirty="0"/>
          </a:p>
        </p:txBody>
      </p:sp>
      <p:sp>
        <p:nvSpPr>
          <p:cNvPr id="26" name="Shape 21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27" name="Text 22"/>
          <p:cNvSpPr/>
          <p:nvPr/>
        </p:nvSpPr>
        <p:spPr>
          <a:xfrm>
            <a:off x="8412480" y="49194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</a:rPr>
              <a:t>1 / 8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DIAGNÓSTICO — ¿Dónde estamos?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B8D4"/>
                </a:solidFill>
              </a:rPr>
              <a:t>Rendimiento real por mes y área — la base del plan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412480" y="2560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1024128"/>
            <a:ext cx="2057400" cy="10972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sp>
        <p:nvSpPr>
          <p:cNvPr id="8" name="Text 6"/>
          <p:cNvSpPr/>
          <p:nvPr/>
        </p:nvSpPr>
        <p:spPr>
          <a:xfrm>
            <a:off x="228600" y="102412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" dirty="0">
                <a:solidFill>
                  <a:schemeClr val="bg1"/>
                </a:solidFill>
              </a:rPr>
              <a:t>META MENSUAL</a:t>
            </a: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228600" y="1261872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28600" y="179222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</a:rPr>
              <a:t>suscripciones objetivo</a:t>
            </a:r>
          </a:p>
        </p:txBody>
      </p:sp>
      <p:sp>
        <p:nvSpPr>
          <p:cNvPr id="11" name="Shape 9"/>
          <p:cNvSpPr/>
          <p:nvPr/>
        </p:nvSpPr>
        <p:spPr>
          <a:xfrm>
            <a:off x="2441448" y="1024128"/>
            <a:ext cx="2057400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sp>
        <p:nvSpPr>
          <p:cNvPr id="12" name="Text 10"/>
          <p:cNvSpPr/>
          <p:nvPr/>
        </p:nvSpPr>
        <p:spPr>
          <a:xfrm>
            <a:off x="2441448" y="102412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" dirty="0">
                <a:solidFill>
                  <a:schemeClr val="bg1"/>
                </a:solidFill>
              </a:rPr>
              <a:t>MARZO 2026</a:t>
            </a: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2441448" y="1261872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549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441448" y="179222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</a:rPr>
              <a:t>68.6% del objetivo</a:t>
            </a:r>
          </a:p>
        </p:txBody>
      </p:sp>
      <p:sp>
        <p:nvSpPr>
          <p:cNvPr id="15" name="Shape 13"/>
          <p:cNvSpPr/>
          <p:nvPr/>
        </p:nvSpPr>
        <p:spPr>
          <a:xfrm>
            <a:off x="4654296" y="1024128"/>
            <a:ext cx="2057400" cy="109728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sp>
        <p:nvSpPr>
          <p:cNvPr id="16" name="Text 14"/>
          <p:cNvSpPr/>
          <p:nvPr/>
        </p:nvSpPr>
        <p:spPr>
          <a:xfrm>
            <a:off x="4654296" y="102412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" dirty="0">
                <a:solidFill>
                  <a:schemeClr val="bg1"/>
                </a:solidFill>
              </a:rPr>
              <a:t>ABRIL 2026</a:t>
            </a: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654296" y="1261872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54296" y="179222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</a:rPr>
              <a:t>40.4% del objetivo</a:t>
            </a:r>
          </a:p>
        </p:txBody>
      </p:sp>
      <p:sp>
        <p:nvSpPr>
          <p:cNvPr id="19" name="Shape 17"/>
          <p:cNvSpPr/>
          <p:nvPr/>
        </p:nvSpPr>
        <p:spPr>
          <a:xfrm>
            <a:off x="6867144" y="1024128"/>
            <a:ext cx="2057400" cy="109728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sp>
        <p:nvSpPr>
          <p:cNvPr id="20" name="Text 18"/>
          <p:cNvSpPr/>
          <p:nvPr/>
        </p:nvSpPr>
        <p:spPr>
          <a:xfrm>
            <a:off x="6867144" y="102412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" dirty="0">
                <a:solidFill>
                  <a:schemeClr val="bg1"/>
                </a:solidFill>
              </a:rPr>
              <a:t>BRECHA ACUMULADA</a:t>
            </a: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6867144" y="1261872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-628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867144" y="179222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</a:rPr>
              <a:t>Ene–Abr vs meta</a:t>
            </a:r>
          </a:p>
        </p:txBody>
      </p:sp>
      <p:sp>
        <p:nvSpPr>
          <p:cNvPr id="23" name="Shape 21"/>
          <p:cNvSpPr/>
          <p:nvPr/>
        </p:nvSpPr>
        <p:spPr>
          <a:xfrm>
            <a:off x="228600" y="2212848"/>
            <a:ext cx="868680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24" name="Text 22"/>
          <p:cNvSpPr/>
          <p:nvPr/>
        </p:nvSpPr>
        <p:spPr>
          <a:xfrm>
            <a:off x="228600" y="2212848"/>
            <a:ext cx="1920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</a:rPr>
              <a:t>ÁREA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148840" y="22128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OBJ/MES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880360" y="221284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PERS.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474720" y="22128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VTA/PERS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251960" y="22128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MARZO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92040" y="22128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Cumpl.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577840" y="22128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ABRIL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217920" y="22128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Cumpl.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903720" y="22128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ESTADO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28600" y="2487168"/>
            <a:ext cx="8686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34" name="Text 32"/>
          <p:cNvSpPr/>
          <p:nvPr/>
        </p:nvSpPr>
        <p:spPr>
          <a:xfrm>
            <a:off x="228600" y="2487168"/>
            <a:ext cx="19202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74151"/>
                </a:solidFill>
              </a:rPr>
              <a:t>Gestión Vitalia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148840" y="248716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</a:rPr>
              <a:t>200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880360" y="248716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2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474720" y="24871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25.00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251960" y="2487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2400E"/>
                </a:solidFill>
              </a:rPr>
              <a:t>104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92040" y="24871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2400E"/>
                </a:solidFill>
              </a:rPr>
              <a:t>52%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577840" y="2487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1B1B"/>
                </a:solidFill>
              </a:rPr>
              <a:t>51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217920" y="24871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1B1B"/>
                </a:solidFill>
              </a:rPr>
              <a:t>26%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903720" y="24871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1B1B"/>
                </a:solidFill>
              </a:rPr>
              <a:t>↓ Bajando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28600" y="2743200"/>
            <a:ext cx="86868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44" name="Text 42"/>
          <p:cNvSpPr/>
          <p:nvPr/>
        </p:nvSpPr>
        <p:spPr>
          <a:xfrm>
            <a:off x="228600" y="2743200"/>
            <a:ext cx="19202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74151"/>
                </a:solidFill>
              </a:rPr>
              <a:t>Front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148840" y="27432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</a:rPr>
              <a:t>144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880360" y="274320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3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474720" y="27432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12.00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251960" y="27432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2400E"/>
                </a:solidFill>
              </a:rPr>
              <a:t>54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892040" y="274320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2400E"/>
                </a:solidFill>
              </a:rPr>
              <a:t>38%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577840" y="27432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1B1B"/>
                </a:solidFill>
              </a:rPr>
              <a:t>71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217920" y="274320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1B1B"/>
                </a:solidFill>
              </a:rPr>
              <a:t>49%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903720" y="27432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85FA5"/>
                </a:solidFill>
              </a:rPr>
              <a:t>→ En proceso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28600" y="2999232"/>
            <a:ext cx="8686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54" name="Text 52"/>
          <p:cNvSpPr/>
          <p:nvPr/>
        </p:nvSpPr>
        <p:spPr>
          <a:xfrm>
            <a:off x="228600" y="2999232"/>
            <a:ext cx="19202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74151"/>
                </a:solidFill>
              </a:rPr>
              <a:t>Call Center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148840" y="29992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</a:rPr>
              <a:t>120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880360" y="299923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8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474720" y="299923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3.75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251960" y="29992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2400E"/>
                </a:solidFill>
              </a:rPr>
              <a:t>50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892040" y="29992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2400E"/>
                </a:solidFill>
              </a:rPr>
              <a:t>42%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577840" y="29992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1B1B"/>
                </a:solidFill>
              </a:rPr>
              <a:t>26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217920" y="29992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1B1B"/>
                </a:solidFill>
              </a:rPr>
              <a:t>22%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903720" y="29992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1B1B"/>
                </a:solidFill>
              </a:rPr>
              <a:t>↓ Bajando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28600" y="3255264"/>
            <a:ext cx="86868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64" name="Text 62"/>
          <p:cNvSpPr/>
          <p:nvPr/>
        </p:nvSpPr>
        <p:spPr>
          <a:xfrm>
            <a:off x="228600" y="3255264"/>
            <a:ext cx="19202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74151"/>
                </a:solidFill>
              </a:rPr>
              <a:t>Gestión Pacientes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2148840" y="325526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</a:rPr>
              <a:t>120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2880360" y="325526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6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3474720" y="325526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5.00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251960" y="32552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2400E"/>
                </a:solidFill>
              </a:rPr>
              <a:t>117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892040" y="325526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2400E"/>
                </a:solidFill>
              </a:rPr>
              <a:t>98%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577840" y="32552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1B1B"/>
                </a:solidFill>
              </a:rPr>
              <a:t>70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217920" y="325526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1B1B"/>
                </a:solidFill>
              </a:rPr>
              <a:t>58%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6903720" y="32552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1B1B"/>
                </a:solidFill>
              </a:rPr>
              <a:t>↓ Bajando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228600" y="3511296"/>
            <a:ext cx="8686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74" name="Text 72"/>
          <p:cNvSpPr/>
          <p:nvPr/>
        </p:nvSpPr>
        <p:spPr>
          <a:xfrm>
            <a:off x="228600" y="3511296"/>
            <a:ext cx="19202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74151"/>
                </a:solidFill>
              </a:rPr>
              <a:t>Rec. Emergencias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2148840" y="351129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</a:rPr>
              <a:t>64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2880360" y="351129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6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3474720" y="351129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2.67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4251960" y="351129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2400E"/>
                </a:solidFill>
              </a:rPr>
              <a:t>45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4892040" y="351129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2400E"/>
                </a:solidFill>
              </a:rPr>
              <a:t>70%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5577840" y="351129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1B1B"/>
                </a:solidFill>
              </a:rPr>
              <a:t>24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6217920" y="351129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1B1B"/>
                </a:solidFill>
              </a:rPr>
              <a:t>38%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6903720" y="35112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1B1B"/>
                </a:solidFill>
              </a:rPr>
              <a:t>↓ Bajando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228600" y="3767328"/>
            <a:ext cx="86868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84" name="Text 82"/>
          <p:cNvSpPr/>
          <p:nvPr/>
        </p:nvSpPr>
        <p:spPr>
          <a:xfrm>
            <a:off x="228600" y="3767328"/>
            <a:ext cx="19202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74151"/>
                </a:solidFill>
              </a:rPr>
              <a:t>Laboratorio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2148840" y="37673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</a:rPr>
              <a:t>56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2880360" y="376732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4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3474720" y="37673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3.50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4251960" y="37673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2400E"/>
                </a:solidFill>
              </a:rPr>
              <a:t>46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4892040" y="376732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2400E"/>
                </a:solidFill>
              </a:rPr>
              <a:t>82%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5577840" y="37673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1B1B"/>
                </a:solidFill>
              </a:rPr>
              <a:t>26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6217920" y="376732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1B1B"/>
                </a:solidFill>
              </a:rPr>
              <a:t>46%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6903720" y="37673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1B1B"/>
                </a:solidFill>
              </a:rPr>
              <a:t>↓ Bajando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228600" y="4023360"/>
            <a:ext cx="8686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94" name="Text 92"/>
          <p:cNvSpPr/>
          <p:nvPr/>
        </p:nvSpPr>
        <p:spPr>
          <a:xfrm>
            <a:off x="228600" y="4023360"/>
            <a:ext cx="19202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74151"/>
                </a:solidFill>
              </a:rPr>
              <a:t>Consultorio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2148840" y="40233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</a:rPr>
              <a:t>56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2880360" y="40233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8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3474720" y="40233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1.75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4251960" y="40233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6B3A"/>
                </a:solidFill>
              </a:rPr>
              <a:t>68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4892040" y="402336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6B3A"/>
                </a:solidFill>
              </a:rPr>
              <a:t>121%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5577840" y="40233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1B1B"/>
                </a:solidFill>
              </a:rPr>
              <a:t>13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6217920" y="402336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1B1B"/>
                </a:solidFill>
              </a:rPr>
              <a:t>23%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6903720" y="40233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2400E"/>
                </a:solidFill>
              </a:rPr>
              <a:t>~ Irregular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228600" y="4279392"/>
            <a:ext cx="86868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104" name="Text 102"/>
          <p:cNvSpPr/>
          <p:nvPr/>
        </p:nvSpPr>
        <p:spPr>
          <a:xfrm>
            <a:off x="228600" y="4279392"/>
            <a:ext cx="19202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74151"/>
                </a:solidFill>
              </a:rPr>
              <a:t>Imagen Médica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2148840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</a:rPr>
              <a:t>40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2880360" y="427939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9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3474720" y="42793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1.11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4251960" y="4279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6B3A"/>
                </a:solidFill>
              </a:rPr>
              <a:t>53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4892040" y="427939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6B3A"/>
                </a:solidFill>
              </a:rPr>
              <a:t>133%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5577840" y="4279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1B1B"/>
                </a:solidFill>
              </a:rPr>
              <a:t>33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6217920" y="427939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1B1B"/>
                </a:solidFill>
              </a:rPr>
              <a:t>83%</a:t>
            </a:r>
            <a:endParaRPr lang="en-US" sz="800" dirty="0"/>
          </a:p>
        </p:txBody>
      </p:sp>
      <p:sp>
        <p:nvSpPr>
          <p:cNvPr id="112" name="Text 110"/>
          <p:cNvSpPr/>
          <p:nvPr/>
        </p:nvSpPr>
        <p:spPr>
          <a:xfrm>
            <a:off x="6903720" y="42793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2400E"/>
                </a:solidFill>
              </a:rPr>
              <a:t>~ Irregular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228600" y="4535424"/>
            <a:ext cx="868680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114" name="Text 112"/>
          <p:cNvSpPr/>
          <p:nvPr/>
        </p:nvSpPr>
        <p:spPr>
          <a:xfrm>
            <a:off x="228600" y="4535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TOTAL</a:t>
            </a:r>
            <a:endParaRPr lang="en-US" sz="850" dirty="0"/>
          </a:p>
        </p:txBody>
      </p:sp>
      <p:sp>
        <p:nvSpPr>
          <p:cNvPr id="115" name="Text 113"/>
          <p:cNvSpPr/>
          <p:nvPr/>
        </p:nvSpPr>
        <p:spPr>
          <a:xfrm>
            <a:off x="2148840" y="45354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800</a:t>
            </a:r>
            <a:endParaRPr lang="en-US" sz="850" dirty="0"/>
          </a:p>
        </p:txBody>
      </p:sp>
      <p:sp>
        <p:nvSpPr>
          <p:cNvPr id="116" name="Text 114"/>
          <p:cNvSpPr/>
          <p:nvPr/>
        </p:nvSpPr>
        <p:spPr>
          <a:xfrm>
            <a:off x="2880360" y="453542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17" name="Text 115"/>
          <p:cNvSpPr/>
          <p:nvPr/>
        </p:nvSpPr>
        <p:spPr>
          <a:xfrm>
            <a:off x="3474720" y="45354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18" name="Text 116"/>
          <p:cNvSpPr/>
          <p:nvPr/>
        </p:nvSpPr>
        <p:spPr>
          <a:xfrm>
            <a:off x="4251960" y="45354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549</a:t>
            </a:r>
            <a:endParaRPr lang="en-US" sz="850" dirty="0"/>
          </a:p>
        </p:txBody>
      </p:sp>
      <p:sp>
        <p:nvSpPr>
          <p:cNvPr id="119" name="Text 117"/>
          <p:cNvSpPr/>
          <p:nvPr/>
        </p:nvSpPr>
        <p:spPr>
          <a:xfrm>
            <a:off x="4892040" y="453542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68.6%</a:t>
            </a:r>
            <a:endParaRPr lang="en-US" sz="850" dirty="0"/>
          </a:p>
        </p:txBody>
      </p:sp>
      <p:sp>
        <p:nvSpPr>
          <p:cNvPr id="120" name="Text 118"/>
          <p:cNvSpPr/>
          <p:nvPr/>
        </p:nvSpPr>
        <p:spPr>
          <a:xfrm>
            <a:off x="5577840" y="45354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323</a:t>
            </a:r>
            <a:endParaRPr lang="en-US" sz="850" dirty="0"/>
          </a:p>
        </p:txBody>
      </p:sp>
      <p:sp>
        <p:nvSpPr>
          <p:cNvPr id="121" name="Text 119"/>
          <p:cNvSpPr/>
          <p:nvPr/>
        </p:nvSpPr>
        <p:spPr>
          <a:xfrm>
            <a:off x="6217920" y="453542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40.4%</a:t>
            </a:r>
            <a:endParaRPr lang="en-US" sz="850" dirty="0"/>
          </a:p>
        </p:txBody>
      </p:sp>
      <p:sp>
        <p:nvSpPr>
          <p:cNvPr id="122" name="Text 120"/>
          <p:cNvSpPr/>
          <p:nvPr/>
        </p:nvSpPr>
        <p:spPr>
          <a:xfrm>
            <a:off x="6903720" y="45354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23" name="Text 121"/>
          <p:cNvSpPr/>
          <p:nvPr/>
        </p:nvSpPr>
        <p:spPr>
          <a:xfrm>
            <a:off x="228600" y="4535424"/>
            <a:ext cx="1920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TOTAL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A1942"/>
          </a:solidFill>
          <a:ln w="12700">
            <a:solidFill>
              <a:srgbClr val="4A1942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OPINO DE ESTOS MESES DE AVANCE?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D5FF"/>
                </a:solidFill>
              </a:rPr>
              <a:t>Mi análisis honesto — lo que los números me dicen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412480" y="2560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1051560"/>
            <a:ext cx="2743200" cy="3840480"/>
          </a:xfrm>
          <a:prstGeom prst="rect">
            <a:avLst/>
          </a:prstGeom>
          <a:solidFill>
            <a:srgbClr val="052E16"/>
          </a:solidFill>
          <a:ln w="12700">
            <a:solidFill>
              <a:srgbClr val="4ADE80">
                <a:alpha val="6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2743200" cy="347472"/>
          </a:xfrm>
          <a:prstGeom prst="rect">
            <a:avLst/>
          </a:prstGeom>
          <a:solidFill>
            <a:srgbClr val="4ADE80">
              <a:alpha val="70000"/>
            </a:srgbClr>
          </a:solidFill>
          <a:ln w="12700">
            <a:solidFill>
              <a:srgbClr val="4ADE8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88136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12648" y="10515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</a:rPr>
              <a:t>Lo que está funcionando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338328" y="1481328"/>
            <a:ext cx="2523744" cy="3291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28600" indent="-228600">
              <a:buAutoNum type="arabicPeriod"/>
            </a:pPr>
            <a:r>
              <a:rPr lang="en-US" sz="1200" dirty="0">
                <a:solidFill>
                  <a:srgbClr val="E2E8F0"/>
                </a:solidFill>
              </a:rPr>
              <a:t>Gestión Pacientes casi llegó a su meta en Marzo (117/120 = 98%) </a:t>
            </a:r>
          </a:p>
          <a:p>
            <a:endParaRPr lang="en-US" sz="1200" dirty="0">
              <a:solidFill>
                <a:srgbClr val="E2E8F0"/>
              </a:solidFill>
            </a:endParaRPr>
          </a:p>
          <a:p>
            <a:pPr marL="228600" indent="-228600">
              <a:buAutoNum type="arabicPeriod" startAt="2"/>
            </a:pPr>
            <a:r>
              <a:rPr lang="en-US" sz="1200" dirty="0">
                <a:solidFill>
                  <a:srgbClr val="E2E8F0"/>
                </a:solidFill>
              </a:rPr>
              <a:t>Consultorio e Imagen Médica</a:t>
            </a:r>
          </a:p>
          <a:p>
            <a:r>
              <a:rPr lang="en-US" sz="1200" dirty="0">
                <a:solidFill>
                  <a:srgbClr val="E2E8F0"/>
                </a:solidFill>
              </a:rPr>
              <a:t> superaron su objetivo en Marzo demuestran que el speech funciona cuando se aplica.</a:t>
            </a:r>
          </a:p>
          <a:p>
            <a:endParaRPr lang="en-US" sz="1200" dirty="0"/>
          </a:p>
          <a:p>
            <a:pPr marL="228600" indent="-228600">
              <a:buAutoNum type="arabicPeriod" startAt="3"/>
            </a:pPr>
            <a:r>
              <a:rPr lang="en-US" sz="1200" dirty="0">
                <a:solidFill>
                  <a:srgbClr val="E2E8F0"/>
                </a:solidFill>
              </a:rPr>
              <a:t>El canal WhatsApp + llamadas genera tráfico: las visitas crecieron, el problema es la conversión, no el volumen.</a:t>
            </a:r>
          </a:p>
          <a:p>
            <a:pPr marL="228600" indent="-228600">
              <a:buAutoNum type="arabicPeriod" startAt="3"/>
            </a:pP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154680" y="1051560"/>
            <a:ext cx="2743200" cy="3840480"/>
          </a:xfrm>
          <a:prstGeom prst="rect">
            <a:avLst/>
          </a:prstGeom>
          <a:solidFill>
            <a:srgbClr val="431407"/>
          </a:solidFill>
          <a:ln w="12700">
            <a:solidFill>
              <a:srgbClr val="FB923C">
                <a:alpha val="6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sp>
        <p:nvSpPr>
          <p:cNvPr id="13" name="Shape 10"/>
          <p:cNvSpPr/>
          <p:nvPr/>
        </p:nvSpPr>
        <p:spPr>
          <a:xfrm>
            <a:off x="3154680" y="1051560"/>
            <a:ext cx="2743200" cy="347472"/>
          </a:xfrm>
          <a:prstGeom prst="rect">
            <a:avLst/>
          </a:prstGeom>
          <a:solidFill>
            <a:srgbClr val="FB923C">
              <a:alpha val="70000"/>
            </a:srgbClr>
          </a:solidFill>
          <a:ln w="12700">
            <a:solidFill>
              <a:srgbClr val="FB923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3246120" y="1088136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38728" y="10515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</a:rPr>
              <a:t>Lo que me preocupa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6" name="Text 12"/>
          <p:cNvSpPr/>
          <p:nvPr/>
        </p:nvSpPr>
        <p:spPr>
          <a:xfrm>
            <a:off x="3264408" y="1481328"/>
            <a:ext cx="2523744" cy="3291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28600" indent="-228600">
              <a:buFontTx/>
              <a:buAutoNum type="arabicPeriod"/>
            </a:pPr>
            <a:r>
              <a:rPr lang="en-US" sz="12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Gestión Vitalia bajó de 104 a 51 en un mes (-51%). Es el área con mayor peso (25%) y cayó a la mitad.</a:t>
            </a:r>
          </a:p>
          <a:p>
            <a:pPr marL="228600" indent="-228600">
              <a:buAutoNum type="arabicPeriod"/>
            </a:pP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>
              <a:buFontTx/>
              <a:buAutoNum type="arabicPeriod" startAt="2"/>
            </a:pPr>
            <a:r>
              <a:rPr lang="en-US" sz="12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Call Center bajó de 50 a 26 (-48%). Siendo 8 personas con meta de 120, el promedio actual es 3.25/persona.</a:t>
            </a:r>
          </a:p>
          <a:p>
            <a:pPr marL="228600" indent="-228600">
              <a:buAutoNum type="arabicPeriod" startAt="2"/>
            </a:pP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>
              <a:buAutoNum type="arabicPeriod" startAt="3"/>
            </a:pP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6080760" y="1051560"/>
            <a:ext cx="274320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60A5FA">
                <a:alpha val="6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sp>
        <p:nvSpPr>
          <p:cNvPr id="18" name="Shape 14"/>
          <p:cNvSpPr/>
          <p:nvPr/>
        </p:nvSpPr>
        <p:spPr>
          <a:xfrm>
            <a:off x="6080760" y="1051560"/>
            <a:ext cx="2743200" cy="347472"/>
          </a:xfrm>
          <a:prstGeom prst="rect">
            <a:avLst/>
          </a:prstGeom>
          <a:solidFill>
            <a:srgbClr val="60A5FA">
              <a:alpha val="70000"/>
            </a:srgbClr>
          </a:solidFill>
          <a:ln w="12700">
            <a:solidFill>
              <a:srgbClr val="60A5F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088136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64808" y="10515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</a:rPr>
              <a:t>Mi lectura de fondo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1" name="Text 16"/>
          <p:cNvSpPr/>
          <p:nvPr/>
        </p:nvSpPr>
        <p:spPr>
          <a:xfrm>
            <a:off x="6190488" y="1481328"/>
            <a:ext cx="2523744" cy="3291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28600" indent="-228600">
              <a:buAutoNum type="arabicPeriod"/>
            </a:pPr>
            <a:r>
              <a:rPr lang="en-US" sz="1200" dirty="0">
                <a:solidFill>
                  <a:srgbClr val="E2E8F0"/>
                </a:solidFill>
              </a:rPr>
              <a:t>El equipo tiene las herramientas: speech, folletos, QR, llamadas. El problema es la consistencia, no la capacidad.</a:t>
            </a:r>
          </a:p>
          <a:p>
            <a:endParaRPr lang="en-US" sz="1200" dirty="0"/>
          </a:p>
          <a:p>
            <a:pPr marL="228600" indent="-228600">
              <a:buAutoNum type="arabicPeriod" startAt="2"/>
            </a:pPr>
            <a:r>
              <a:rPr lang="en-US" sz="1200" dirty="0">
                <a:solidFill>
                  <a:srgbClr val="E2E8F0"/>
                </a:solidFill>
              </a:rPr>
              <a:t>Los buenos resultados de Marzo prueban que SÍ se puede. Abril demuestra que sin seguimiento activo, el ritmo baja.</a:t>
            </a:r>
          </a:p>
          <a:p>
            <a:pPr marL="228600" indent="-228600">
              <a:buAutoNum type="arabicPeriod" startAt="2"/>
            </a:pPr>
            <a:endParaRPr lang="en-US" sz="1200" dirty="0"/>
          </a:p>
          <a:p>
            <a:pPr marL="228600" indent="-228600">
              <a:buAutoNum type="arabicPeriod" startAt="3"/>
            </a:pPr>
            <a:r>
              <a:rPr lang="en-US" sz="1200" dirty="0">
                <a:solidFill>
                  <a:srgbClr val="E2E8F0"/>
                </a:solidFill>
              </a:rPr>
              <a:t>El sistema de Embajadoras motiva, pero necesitamos visibilidad mensual aunque el premio sea trimestral.</a:t>
            </a:r>
          </a:p>
          <a:p>
            <a:pPr marL="228600" indent="-228600">
              <a:buAutoNum type="arabicPeriod" startAt="3"/>
            </a:pP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PROPONGO?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</a:rPr>
              <a:t>5 </a:t>
            </a:r>
            <a:r>
              <a:rPr lang="en-US" sz="950" dirty="0" err="1">
                <a:solidFill>
                  <a:srgbClr val="A5F3FC"/>
                </a:solidFill>
              </a:rPr>
              <a:t>acciones</a:t>
            </a:r>
            <a:r>
              <a:rPr lang="en-US" sz="950" dirty="0">
                <a:solidFill>
                  <a:srgbClr val="A5F3FC"/>
                </a:solidFill>
              </a:rPr>
              <a:t> </a:t>
            </a:r>
            <a:r>
              <a:rPr lang="en-US" sz="950" dirty="0" err="1">
                <a:solidFill>
                  <a:srgbClr val="A5F3FC"/>
                </a:solidFill>
              </a:rPr>
              <a:t>concretas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412480" y="2560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1051560"/>
            <a:ext cx="2670048" cy="1901952"/>
          </a:xfrm>
          <a:prstGeom prst="rect">
            <a:avLst/>
          </a:prstGeom>
          <a:solidFill>
            <a:srgbClr val="ECFEFF"/>
          </a:solidFill>
          <a:ln w="12700">
            <a:solidFill>
              <a:srgbClr val="0E7490">
                <a:alpha val="5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2670048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9" name="Shape 7"/>
          <p:cNvSpPr/>
          <p:nvPr/>
        </p:nvSpPr>
        <p:spPr>
          <a:xfrm>
            <a:off x="228600" y="1051560"/>
            <a:ext cx="320040" cy="320040"/>
          </a:xfrm>
          <a:prstGeom prst="rect">
            <a:avLst/>
          </a:prstGeom>
          <a:solidFill>
            <a:srgbClr val="0E7490">
              <a:alpha val="80000"/>
            </a:srgbClr>
          </a:solidFill>
          <a:ln w="12700">
            <a:solidFill>
              <a:srgbClr val="0E749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76072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" dirty="0">
                <a:solidFill>
                  <a:srgbClr val="FFFFFF"/>
                </a:solidFill>
              </a:rPr>
              <a:t>PROPUESTA 01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320040" y="139903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</a:rPr>
              <a:t>Ranking semanal visible por área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20040" y="1801368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E7490"/>
                </a:solidFill>
              </a:rPr>
              <a:t>Qué: </a:t>
            </a:r>
            <a:r>
              <a:rPr lang="en-US" sz="1000" dirty="0"/>
              <a:t>Publicar en el grupo de WhatsApp del equipo el acumulado de ventas de cada área cada lunes. Un tablero simple: área, meta, real, diferencia.</a:t>
            </a:r>
          </a:p>
        </p:txBody>
      </p:sp>
      <p:sp>
        <p:nvSpPr>
          <p:cNvPr id="14" name="Text 11"/>
          <p:cNvSpPr/>
          <p:nvPr/>
        </p:nvSpPr>
        <p:spPr>
          <a:xfrm>
            <a:off x="320040" y="2459736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E7490"/>
                </a:solidFill>
              </a:rPr>
              <a:t>Por qué: </a:t>
            </a:r>
            <a:r>
              <a:rPr lang="en-US" sz="800" i="1" dirty="0"/>
              <a:t>La visibilidad semanal mantiene el ritmo entre trimestres. Noviembre 2025 (récord 32%) coincidió con mayor seguimiento activo.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154680" y="1051560"/>
            <a:ext cx="2670048" cy="1901952"/>
          </a:xfrm>
          <a:prstGeom prst="rect">
            <a:avLst/>
          </a:prstGeom>
          <a:solidFill>
            <a:srgbClr val="F0FDF4"/>
          </a:solidFill>
          <a:ln w="12700">
            <a:solidFill>
              <a:srgbClr val="1B6B3A">
                <a:alpha val="5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sp>
        <p:nvSpPr>
          <p:cNvPr id="16" name="Shape 13"/>
          <p:cNvSpPr/>
          <p:nvPr/>
        </p:nvSpPr>
        <p:spPr>
          <a:xfrm>
            <a:off x="3154680" y="1051560"/>
            <a:ext cx="2670048" cy="32004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17" name="Shape 14"/>
          <p:cNvSpPr/>
          <p:nvPr/>
        </p:nvSpPr>
        <p:spPr>
          <a:xfrm>
            <a:off x="3154680" y="1051560"/>
            <a:ext cx="320040" cy="320040"/>
          </a:xfrm>
          <a:prstGeom prst="rect">
            <a:avLst/>
          </a:prstGeom>
          <a:solidFill>
            <a:srgbClr val="1B6B3A">
              <a:alpha val="80000"/>
            </a:srgbClr>
          </a:solidFill>
          <a:ln w="12700">
            <a:solidFill>
              <a:srgbClr val="1B6B3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097280"/>
            <a:ext cx="228600" cy="2286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02152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" dirty="0">
                <a:solidFill>
                  <a:srgbClr val="FFFFFF"/>
                </a:solidFill>
              </a:rPr>
              <a:t>PROPUESTA 02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3246120" y="139903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B6B3A"/>
                </a:solidFill>
              </a:rPr>
              <a:t>Capacitación focalizada en las 3 áreas críticas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3246120" y="1801368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1B6B3A"/>
                </a:solidFill>
              </a:rPr>
              <a:t>Qué: </a:t>
            </a:r>
            <a:r>
              <a:rPr lang="en-US" sz="1000" dirty="0"/>
              <a:t>Sesión específica de 20 min en cada área Revisar el speech y mensajes que se envia al paciente.</a:t>
            </a:r>
          </a:p>
        </p:txBody>
      </p:sp>
      <p:sp>
        <p:nvSpPr>
          <p:cNvPr id="22" name="Text 18"/>
          <p:cNvSpPr/>
          <p:nvPr/>
        </p:nvSpPr>
        <p:spPr>
          <a:xfrm>
            <a:off x="3246120" y="2459736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dirty="0">
                <a:solidFill>
                  <a:srgbClr val="1B6B3A"/>
                </a:solidFill>
              </a:rPr>
              <a:t>Por qué: </a:t>
            </a:r>
            <a:r>
              <a:rPr lang="en-US" sz="800" i="1" dirty="0"/>
              <a:t>Gestión Vitalia tiene el 25% de la meta pero rinde al 26%. Call Center es 8 personas que promedian solo 3 ventas/mes cada una.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6080760" y="1051560"/>
            <a:ext cx="2670048" cy="1901952"/>
          </a:xfrm>
          <a:prstGeom prst="rect">
            <a:avLst/>
          </a:prstGeom>
          <a:solidFill>
            <a:srgbClr val="FFFBEB"/>
          </a:solidFill>
          <a:ln w="12700">
            <a:solidFill>
              <a:srgbClr val="92400E">
                <a:alpha val="5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sp>
        <p:nvSpPr>
          <p:cNvPr id="24" name="Shape 20"/>
          <p:cNvSpPr/>
          <p:nvPr/>
        </p:nvSpPr>
        <p:spPr>
          <a:xfrm>
            <a:off x="6080760" y="1051560"/>
            <a:ext cx="2670048" cy="32004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25" name="Shape 21"/>
          <p:cNvSpPr/>
          <p:nvPr/>
        </p:nvSpPr>
        <p:spPr>
          <a:xfrm>
            <a:off x="6080760" y="1051560"/>
            <a:ext cx="320040" cy="320040"/>
          </a:xfrm>
          <a:prstGeom prst="rect">
            <a:avLst/>
          </a:prstGeom>
          <a:solidFill>
            <a:srgbClr val="92400E">
              <a:alpha val="80000"/>
            </a:srgbClr>
          </a:solidFill>
          <a:ln w="12700">
            <a:solidFill>
              <a:srgbClr val="92400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1097280"/>
            <a:ext cx="228600" cy="2286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428232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" dirty="0">
                <a:solidFill>
                  <a:srgbClr val="FFFFFF"/>
                </a:solidFill>
              </a:rPr>
              <a:t>PROPUESTA 03</a:t>
            </a:r>
            <a:endParaRPr lang="en-US" sz="750" dirty="0"/>
          </a:p>
        </p:txBody>
      </p:sp>
      <p:sp>
        <p:nvSpPr>
          <p:cNvPr id="28" name="Text 23"/>
          <p:cNvSpPr/>
          <p:nvPr/>
        </p:nvSpPr>
        <p:spPr>
          <a:xfrm>
            <a:off x="6172200" y="139903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92400E"/>
                </a:solidFill>
              </a:rPr>
              <a:t>Hora pico de llamadas identificada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6172200" y="1801368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92400E"/>
                </a:solidFill>
              </a:rPr>
              <a:t>Qué: </a:t>
            </a:r>
            <a:r>
              <a:rPr lang="en-US" sz="1000" dirty="0"/>
              <a:t>Registrar en qué horario las llamadas del Call Center logran más conversiones. Concentrar los esfuerzos en esa ventana.</a:t>
            </a:r>
          </a:p>
        </p:txBody>
      </p:sp>
      <p:sp>
        <p:nvSpPr>
          <p:cNvPr id="30" name="Text 25"/>
          <p:cNvSpPr/>
          <p:nvPr/>
        </p:nvSpPr>
        <p:spPr>
          <a:xfrm>
            <a:off x="6172200" y="2459736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dirty="0">
                <a:solidFill>
                  <a:srgbClr val="92400E"/>
                </a:solidFill>
              </a:rPr>
              <a:t>Por qué: </a:t>
            </a:r>
            <a:r>
              <a:rPr lang="en-US" sz="800" i="1" dirty="0"/>
              <a:t>Si 8 personas hacen 26 ventas en un mes, no es falta de contactos — es falta de momento óptimo.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1508760" y="3200400"/>
            <a:ext cx="2670048" cy="1901952"/>
          </a:xfrm>
          <a:prstGeom prst="rect">
            <a:avLst/>
          </a:prstGeom>
          <a:solidFill>
            <a:srgbClr val="FAF5FF"/>
          </a:solidFill>
          <a:ln w="12700">
            <a:solidFill>
              <a:srgbClr val="581C87">
                <a:alpha val="5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sp>
        <p:nvSpPr>
          <p:cNvPr id="32" name="Shape 27"/>
          <p:cNvSpPr/>
          <p:nvPr/>
        </p:nvSpPr>
        <p:spPr>
          <a:xfrm>
            <a:off x="1508760" y="3200400"/>
            <a:ext cx="2670048" cy="320040"/>
          </a:xfrm>
          <a:prstGeom prst="rect">
            <a:avLst/>
          </a:prstGeom>
          <a:solidFill>
            <a:srgbClr val="581C87"/>
          </a:solidFill>
          <a:ln w="12700">
            <a:solidFill>
              <a:srgbClr val="581C87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33" name="Shape 28"/>
          <p:cNvSpPr/>
          <p:nvPr/>
        </p:nvSpPr>
        <p:spPr>
          <a:xfrm>
            <a:off x="1508760" y="3200400"/>
            <a:ext cx="320040" cy="320040"/>
          </a:xfrm>
          <a:prstGeom prst="rect">
            <a:avLst/>
          </a:prstGeom>
          <a:solidFill>
            <a:srgbClr val="581C87">
              <a:alpha val="80000"/>
            </a:srgbClr>
          </a:solidFill>
          <a:ln w="12700">
            <a:solidFill>
              <a:srgbClr val="581C8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4480" y="3246120"/>
            <a:ext cx="228600" cy="22860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856232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" dirty="0">
                <a:solidFill>
                  <a:srgbClr val="FFFFFF"/>
                </a:solidFill>
              </a:rPr>
              <a:t>PROPUESTA 04</a:t>
            </a:r>
            <a:endParaRPr lang="en-US" sz="750" dirty="0"/>
          </a:p>
        </p:txBody>
      </p:sp>
      <p:sp>
        <p:nvSpPr>
          <p:cNvPr id="36" name="Text 30"/>
          <p:cNvSpPr/>
          <p:nvPr/>
        </p:nvSpPr>
        <p:spPr>
          <a:xfrm>
            <a:off x="1600200" y="354787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581C87"/>
                </a:solidFill>
              </a:rPr>
              <a:t>Meta semanal visible en cada área</a:t>
            </a:r>
            <a:endParaRPr lang="en-US" sz="950" dirty="0"/>
          </a:p>
        </p:txBody>
      </p:sp>
      <p:sp>
        <p:nvSpPr>
          <p:cNvPr id="37" name="Text 31"/>
          <p:cNvSpPr/>
          <p:nvPr/>
        </p:nvSpPr>
        <p:spPr>
          <a:xfrm>
            <a:off x="1600200" y="3950208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581C87"/>
                </a:solidFill>
              </a:rPr>
              <a:t>Qué: </a:t>
            </a:r>
            <a:r>
              <a:rPr lang="en-US" sz="1000" dirty="0"/>
              <a:t>Cada lunes envió de ventas actualizadas a las líderes de cada equipo. El número concreto frente a la vista cambia el comportamiento.</a:t>
            </a:r>
          </a:p>
        </p:txBody>
      </p:sp>
      <p:sp>
        <p:nvSpPr>
          <p:cNvPr id="38" name="Text 32"/>
          <p:cNvSpPr/>
          <p:nvPr/>
        </p:nvSpPr>
        <p:spPr>
          <a:xfrm>
            <a:off x="1600200" y="4608576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dirty="0">
                <a:solidFill>
                  <a:srgbClr val="581C87"/>
                </a:solidFill>
              </a:rPr>
              <a:t>Por qué: </a:t>
            </a:r>
            <a:r>
              <a:rPr lang="en-US" sz="900" i="1" dirty="0"/>
              <a:t>Lo que se mide se mueve. Tener la meta diaria/semanal frente a la vista genera </a:t>
            </a:r>
            <a:r>
              <a:rPr lang="en-US" sz="900" i="1" dirty="0" err="1"/>
              <a:t>acción</a:t>
            </a:r>
            <a:r>
              <a:rPr lang="en-US" sz="900" i="1" dirty="0"/>
              <a:t> inmediata.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4663440" y="3200400"/>
            <a:ext cx="2670048" cy="1901952"/>
          </a:xfrm>
          <a:prstGeom prst="rect">
            <a:avLst/>
          </a:prstGeom>
          <a:solidFill>
            <a:srgbClr val="F0FDF4"/>
          </a:solidFill>
          <a:ln w="12700">
            <a:solidFill>
              <a:srgbClr val="065F46">
                <a:alpha val="5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sp>
        <p:nvSpPr>
          <p:cNvPr id="40" name="Shape 34"/>
          <p:cNvSpPr/>
          <p:nvPr/>
        </p:nvSpPr>
        <p:spPr>
          <a:xfrm>
            <a:off x="4663440" y="3200400"/>
            <a:ext cx="2670048" cy="3200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41" name="Shape 35"/>
          <p:cNvSpPr/>
          <p:nvPr/>
        </p:nvSpPr>
        <p:spPr>
          <a:xfrm>
            <a:off x="4663440" y="3200400"/>
            <a:ext cx="320040" cy="320040"/>
          </a:xfrm>
          <a:prstGeom prst="rect">
            <a:avLst/>
          </a:prstGeom>
          <a:solidFill>
            <a:srgbClr val="065F46">
              <a:alpha val="80000"/>
            </a:srgbClr>
          </a:solidFill>
          <a:ln w="12700">
            <a:solidFill>
              <a:srgbClr val="065F4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3246120"/>
            <a:ext cx="228600" cy="22860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5010912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" dirty="0">
                <a:solidFill>
                  <a:srgbClr val="FFFFFF"/>
                </a:solidFill>
              </a:rPr>
              <a:t>PROPUESTA 05</a:t>
            </a:r>
            <a:endParaRPr lang="en-US" sz="750" dirty="0"/>
          </a:p>
        </p:txBody>
      </p:sp>
      <p:sp>
        <p:nvSpPr>
          <p:cNvPr id="44" name="Text 37"/>
          <p:cNvSpPr/>
          <p:nvPr/>
        </p:nvSpPr>
        <p:spPr>
          <a:xfrm>
            <a:off x="4754880" y="354787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65F46"/>
                </a:solidFill>
              </a:rPr>
              <a:t>Aprovechar el folleto + QR en sala de espera</a:t>
            </a:r>
            <a:endParaRPr lang="en-US" sz="950" dirty="0"/>
          </a:p>
        </p:txBody>
      </p:sp>
      <p:sp>
        <p:nvSpPr>
          <p:cNvPr id="45" name="Text 38"/>
          <p:cNvSpPr/>
          <p:nvPr/>
        </p:nvSpPr>
        <p:spPr>
          <a:xfrm>
            <a:off x="4754880" y="3950208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65F46"/>
                </a:solidFill>
              </a:rPr>
              <a:t>Qué: </a:t>
            </a:r>
            <a:r>
              <a:rPr lang="en-US" sz="1000" dirty="0"/>
              <a:t>Verificar que cada área tenga folletos vigentes y el QR funcional. Proponer que la recepcionista mencione el QR al entregar el turno.</a:t>
            </a:r>
          </a:p>
        </p:txBody>
      </p:sp>
      <p:sp>
        <p:nvSpPr>
          <p:cNvPr id="46" name="Text 39"/>
          <p:cNvSpPr/>
          <p:nvPr/>
        </p:nvSpPr>
        <p:spPr>
          <a:xfrm>
            <a:off x="4754880" y="4608576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dirty="0">
                <a:solidFill>
                  <a:srgbClr val="065F46"/>
                </a:solidFill>
              </a:rPr>
              <a:t>Por qué: </a:t>
            </a:r>
            <a:r>
              <a:rPr lang="en-US" sz="800" i="1" dirty="0"/>
              <a:t>El folleto ya existe. Si el paciente espera 15–20 min y tiene el folleto en mano, aumenta la probabilidad de consultar.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lstStyle/>
          <a:p>
            <a:endParaRPr lang="es-BO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NECESITO PARA VENDER MÁS?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412480" y="2560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1051560"/>
            <a:ext cx="4206240" cy="1874520"/>
          </a:xfrm>
          <a:prstGeom prst="rect">
            <a:avLst/>
          </a:prstGeom>
          <a:solidFill>
            <a:srgbClr val="ECFEFF"/>
          </a:solidFill>
          <a:ln w="12700">
            <a:solidFill>
              <a:srgbClr val="0E7490">
                <a:alpha val="5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420624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106424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1051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" dirty="0">
                <a:solidFill>
                  <a:srgbClr val="FFFFFF"/>
                </a:solidFill>
              </a:rPr>
              <a:t>NECESIDAD 1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320040" y="13990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490"/>
                </a:solidFill>
              </a:rPr>
              <a:t>Datos de conversión por área cada semana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20040" y="1764792"/>
            <a:ext cx="4023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Necesito saber cuántas ventas hizo cada área esta semana para poder actuar a tiempo — no al final del mes cuando ya es tarde para corregir. Con el Excel de objetivos actualizado semanalmente es suficiente.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0040" y="2660904"/>
            <a:ext cx="4023360" cy="201168"/>
          </a:xfrm>
          <a:prstGeom prst="rect">
            <a:avLst/>
          </a:prstGeom>
          <a:solidFill>
            <a:srgbClr val="0E7490">
              <a:alpha val="20000"/>
            </a:srgbClr>
          </a:solidFill>
          <a:ln w="12700">
            <a:solidFill>
              <a:srgbClr val="0E74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BO" dirty="0"/>
          </a:p>
        </p:txBody>
      </p:sp>
      <p:sp>
        <p:nvSpPr>
          <p:cNvPr id="14" name="Text 11"/>
          <p:cNvSpPr/>
          <p:nvPr/>
        </p:nvSpPr>
        <p:spPr>
          <a:xfrm>
            <a:off x="320040" y="2660904"/>
            <a:ext cx="4023360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7490"/>
                </a:solidFill>
              </a:rPr>
              <a:t>Herramienta de gestión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690872" y="1051560"/>
            <a:ext cx="4206240" cy="1874520"/>
          </a:xfrm>
          <a:prstGeom prst="rect">
            <a:avLst/>
          </a:prstGeom>
          <a:solidFill>
            <a:srgbClr val="FAF5FF"/>
          </a:solidFill>
          <a:ln w="12700">
            <a:solidFill>
              <a:srgbClr val="6D28D9">
                <a:alpha val="5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sp>
        <p:nvSpPr>
          <p:cNvPr id="16" name="Shape 13"/>
          <p:cNvSpPr/>
          <p:nvPr/>
        </p:nvSpPr>
        <p:spPr>
          <a:xfrm>
            <a:off x="4690872" y="1051560"/>
            <a:ext cx="4206240" cy="3200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1106424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056632" y="1051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" dirty="0">
                <a:solidFill>
                  <a:srgbClr val="FFFFFF"/>
                </a:solidFill>
              </a:rPr>
              <a:t>NECESIDAD 2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4782312" y="13990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8D9"/>
                </a:solidFill>
              </a:rPr>
              <a:t>Autorización para reunión semanal de 10 min con áreas críticas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782312" y="1764792"/>
            <a:ext cx="4023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Una reunión rápida de 10 minutos cada lunes con los equipos para revisar el número de la semana anterior y reforzar el speech. 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782312" y="2660904"/>
            <a:ext cx="4023360" cy="201168"/>
          </a:xfrm>
          <a:prstGeom prst="rect">
            <a:avLst/>
          </a:prstGeom>
          <a:solidFill>
            <a:srgbClr val="6D28D9">
              <a:alpha val="20000"/>
            </a:srgbClr>
          </a:solidFill>
          <a:ln w="12700">
            <a:solidFill>
              <a:srgbClr val="6D28D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22" name="Text 18"/>
          <p:cNvSpPr/>
          <p:nvPr/>
        </p:nvSpPr>
        <p:spPr>
          <a:xfrm>
            <a:off x="4782312" y="2660904"/>
            <a:ext cx="4023360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D28D9"/>
                </a:solidFill>
              </a:rPr>
              <a:t>Tiempo</a:t>
            </a:r>
            <a:endParaRPr lang="en-US" sz="750" dirty="0"/>
          </a:p>
        </p:txBody>
      </p:sp>
      <p:sp>
        <p:nvSpPr>
          <p:cNvPr id="23" name="Shape 19"/>
          <p:cNvSpPr/>
          <p:nvPr/>
        </p:nvSpPr>
        <p:spPr>
          <a:xfrm>
            <a:off x="228600" y="3099816"/>
            <a:ext cx="4206240" cy="1874520"/>
          </a:xfrm>
          <a:prstGeom prst="rect">
            <a:avLst/>
          </a:prstGeom>
          <a:solidFill>
            <a:srgbClr val="FFFBEB"/>
          </a:solidFill>
          <a:ln w="12700">
            <a:solidFill>
              <a:srgbClr val="B45309">
                <a:alpha val="5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sp>
        <p:nvSpPr>
          <p:cNvPr id="24" name="Shape 20"/>
          <p:cNvSpPr/>
          <p:nvPr/>
        </p:nvSpPr>
        <p:spPr>
          <a:xfrm>
            <a:off x="228600" y="3154680"/>
            <a:ext cx="4206240" cy="3200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52" y="3209544"/>
            <a:ext cx="219456" cy="21945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94360" y="3154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" dirty="0">
                <a:solidFill>
                  <a:srgbClr val="FFFFFF"/>
                </a:solidFill>
              </a:rPr>
              <a:t>NECESIDAD 3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320040" y="35021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</a:rPr>
              <a:t>Reconocimiento mensual en el grupo (sin cambiar el premio trimestral)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320040" y="3867912"/>
            <a:ext cx="4023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Mantener el premio trimestral de Embajadora, pero agregar un reconocimiento mensual en el grupo: 'El área que más creció este mes fue X'. No requiere premio monetario — solo visibilidad.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320040" y="4764024"/>
            <a:ext cx="4023360" cy="201168"/>
          </a:xfrm>
          <a:prstGeom prst="rect">
            <a:avLst/>
          </a:prstGeom>
          <a:solidFill>
            <a:srgbClr val="B45309">
              <a:alpha val="20000"/>
            </a:srgbClr>
          </a:solidFill>
          <a:ln w="12700">
            <a:solidFill>
              <a:srgbClr val="B4530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30" name="Text 25"/>
          <p:cNvSpPr/>
          <p:nvPr/>
        </p:nvSpPr>
        <p:spPr>
          <a:xfrm>
            <a:off x="320040" y="4764024"/>
            <a:ext cx="4023360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B45309"/>
                </a:solidFill>
              </a:rPr>
              <a:t>Motivación</a:t>
            </a:r>
            <a:endParaRPr lang="en-US" sz="750" dirty="0"/>
          </a:p>
        </p:txBody>
      </p:sp>
      <p:sp>
        <p:nvSpPr>
          <p:cNvPr id="31" name="Shape 26"/>
          <p:cNvSpPr/>
          <p:nvPr/>
        </p:nvSpPr>
        <p:spPr>
          <a:xfrm>
            <a:off x="4690872" y="3154680"/>
            <a:ext cx="4206240" cy="1874520"/>
          </a:xfrm>
          <a:prstGeom prst="rect">
            <a:avLst/>
          </a:prstGeom>
          <a:solidFill>
            <a:srgbClr val="EFF6FF"/>
          </a:solidFill>
          <a:ln w="12700">
            <a:solidFill>
              <a:srgbClr val="1F3864">
                <a:alpha val="5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sp>
        <p:nvSpPr>
          <p:cNvPr id="32" name="Shape 27"/>
          <p:cNvSpPr/>
          <p:nvPr/>
        </p:nvSpPr>
        <p:spPr>
          <a:xfrm>
            <a:off x="4690872" y="3154680"/>
            <a:ext cx="420624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4024" y="3209544"/>
            <a:ext cx="219456" cy="21945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056632" y="3154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" dirty="0">
                <a:solidFill>
                  <a:srgbClr val="FFFFFF"/>
                </a:solidFill>
              </a:rPr>
              <a:t>NECESIDAD 4</a:t>
            </a:r>
            <a:endParaRPr lang="en-US" sz="750" dirty="0"/>
          </a:p>
        </p:txBody>
      </p:sp>
      <p:sp>
        <p:nvSpPr>
          <p:cNvPr id="35" name="Text 29"/>
          <p:cNvSpPr/>
          <p:nvPr/>
        </p:nvSpPr>
        <p:spPr>
          <a:xfrm>
            <a:off x="4782312" y="35021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</a:rPr>
              <a:t>Actualizar el speech para pacientes con seguro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4782312" y="3867912"/>
            <a:ext cx="4023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Actualmente el speech es general. Necesito una versión ajustada para pacientes particulares (sin seguro) que es nuestro público objetivo real. Los pacientes con Alianza, Bisa y Nacional no son nuestro target — que el equipo lo sepa ahorra tiempo y mejora la conversión.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4782312" y="4764024"/>
            <a:ext cx="4023360" cy="201168"/>
          </a:xfrm>
          <a:prstGeom prst="rect">
            <a:avLst/>
          </a:prstGeom>
          <a:solidFill>
            <a:srgbClr val="1F3864">
              <a:alpha val="20000"/>
            </a:srgbClr>
          </a:solidFill>
          <a:ln w="12700">
            <a:solidFill>
              <a:srgbClr val="1F386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38" name="Text 32"/>
          <p:cNvSpPr/>
          <p:nvPr/>
        </p:nvSpPr>
        <p:spPr>
          <a:xfrm>
            <a:off x="4782312" y="4764024"/>
            <a:ext cx="4023360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3864"/>
                </a:solidFill>
              </a:rPr>
              <a:t>Capacitación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MAYO 2026 — OBJETIVOS POR ÁREA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FDBFE"/>
                </a:solidFill>
              </a:rPr>
              <a:t>Meta mensual: 800 suscripciones  ·  Objetivos ya asignados por área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412480" y="2560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1024128"/>
            <a:ext cx="8686800" cy="27432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8" name="Text 6"/>
          <p:cNvSpPr/>
          <p:nvPr/>
        </p:nvSpPr>
        <p:spPr>
          <a:xfrm>
            <a:off x="228600" y="1024128"/>
            <a:ext cx="1920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</a:rPr>
              <a:t>ÁREA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48840" y="10241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OBJ. MAYO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154680" y="10241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VTA/SEMANA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06240" y="10241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PERSONAS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120640" y="10241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VTA/PERSONA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126480" y="1024128"/>
            <a:ext cx="34747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</a:rPr>
              <a:t>FOCO MAYO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28600" y="1298448"/>
            <a:ext cx="8686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15" name="Text 13"/>
          <p:cNvSpPr/>
          <p:nvPr/>
        </p:nvSpPr>
        <p:spPr>
          <a:xfrm>
            <a:off x="228600" y="1298448"/>
            <a:ext cx="19202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74151"/>
                </a:solidFill>
              </a:rPr>
              <a:t>Gestión Vitalia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148840" y="12984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</a:rPr>
              <a:t>200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154680" y="129844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85FA5"/>
                </a:solidFill>
              </a:rPr>
              <a:t>50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206240" y="12984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20640" y="12984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25.0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26480" y="1298448"/>
            <a:ext cx="34747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374151"/>
                </a:solidFill>
              </a:rPr>
              <a:t>Recuperar liderazgo: meta diaria visible, reporte semanal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28600" y="1645920"/>
            <a:ext cx="868680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22" name="Text 20"/>
          <p:cNvSpPr/>
          <p:nvPr/>
        </p:nvSpPr>
        <p:spPr>
          <a:xfrm>
            <a:off x="228600" y="1645920"/>
            <a:ext cx="19202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74151"/>
                </a:solidFill>
              </a:rPr>
              <a:t>Front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148840" y="16459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</a:rPr>
              <a:t>144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154680" y="164592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85FA5"/>
                </a:solidFill>
              </a:rPr>
              <a:t>36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206240" y="16459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120640" y="16459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12.0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26480" y="1645920"/>
            <a:ext cx="34747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374151"/>
                </a:solidFill>
              </a:rPr>
              <a:t>Mantener crecimiento de Abril, activar 3ra persona del equipo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28600" y="1993392"/>
            <a:ext cx="8686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29" name="Text 27"/>
          <p:cNvSpPr/>
          <p:nvPr/>
        </p:nvSpPr>
        <p:spPr>
          <a:xfrm>
            <a:off x="228600" y="1993392"/>
            <a:ext cx="19202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74151"/>
                </a:solidFill>
              </a:rPr>
              <a:t>Call Center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148840" y="19933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</a:rPr>
              <a:t>120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154680" y="199339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85FA5"/>
                </a:solidFill>
              </a:rPr>
              <a:t>30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206240" y="19933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8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120640" y="19933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3.8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126480" y="1993392"/>
            <a:ext cx="34747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374151"/>
                </a:solidFill>
              </a:rPr>
              <a:t>Revisar horario pico de llamadas, reforzar cierre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28600" y="2340864"/>
            <a:ext cx="868680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36" name="Text 34"/>
          <p:cNvSpPr/>
          <p:nvPr/>
        </p:nvSpPr>
        <p:spPr>
          <a:xfrm>
            <a:off x="228600" y="2340864"/>
            <a:ext cx="19202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74151"/>
                </a:solidFill>
              </a:rPr>
              <a:t>Gestión Pacientes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148840" y="234086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</a:rPr>
              <a:t>120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154680" y="234086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85FA5"/>
                </a:solidFill>
              </a:rPr>
              <a:t>30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206240" y="234086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6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120640" y="234086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5.0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126480" y="2340864"/>
            <a:ext cx="34747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374151"/>
                </a:solidFill>
              </a:rPr>
              <a:t>Replicar el ritmo de Marzo (117)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28600" y="2688336"/>
            <a:ext cx="8686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43" name="Text 41"/>
          <p:cNvSpPr/>
          <p:nvPr/>
        </p:nvSpPr>
        <p:spPr>
          <a:xfrm>
            <a:off x="228600" y="2688336"/>
            <a:ext cx="19202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74151"/>
                </a:solidFill>
              </a:rPr>
              <a:t>Rec. Emergencias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148840" y="268833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</a:rPr>
              <a:t>64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154680" y="2688336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85FA5"/>
                </a:solidFill>
              </a:rPr>
              <a:t>16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206240" y="268833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6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120640" y="268833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2.7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126480" y="2688336"/>
            <a:ext cx="34747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374151"/>
                </a:solidFill>
              </a:rPr>
              <a:t>Reforzar la mención al momento de dar turno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28600" y="3035808"/>
            <a:ext cx="868680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50" name="Text 48"/>
          <p:cNvSpPr/>
          <p:nvPr/>
        </p:nvSpPr>
        <p:spPr>
          <a:xfrm>
            <a:off x="228600" y="3035808"/>
            <a:ext cx="19202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74151"/>
                </a:solidFill>
              </a:rPr>
              <a:t>Laboratorio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148840" y="303580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</a:rPr>
              <a:t>56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154680" y="303580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85FA5"/>
                </a:solidFill>
              </a:rPr>
              <a:t>14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206240" y="303580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4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120640" y="303580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3.5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126480" y="3035808"/>
            <a:ext cx="34747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374151"/>
                </a:solidFill>
              </a:rPr>
              <a:t>Proponer al paciente al entregar resultados impresos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28600" y="3383280"/>
            <a:ext cx="8686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57" name="Text 55"/>
          <p:cNvSpPr/>
          <p:nvPr/>
        </p:nvSpPr>
        <p:spPr>
          <a:xfrm>
            <a:off x="228600" y="3383280"/>
            <a:ext cx="19202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74151"/>
                </a:solidFill>
              </a:rPr>
              <a:t>Consultorio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148840" y="33832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</a:rPr>
              <a:t>56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154680" y="338328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85FA5"/>
                </a:solidFill>
              </a:rPr>
              <a:t>14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206240" y="33832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8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120640" y="33832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1.8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126480" y="3383280"/>
            <a:ext cx="34747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00" i="1" dirty="0" err="1">
                <a:solidFill>
                  <a:srgbClr val="374151"/>
                </a:solidFill>
              </a:rPr>
              <a:t>Mención</a:t>
            </a:r>
            <a:r>
              <a:rPr lang="en-US" sz="800" i="1" dirty="0">
                <a:solidFill>
                  <a:srgbClr val="374151"/>
                </a:solidFill>
              </a:rPr>
              <a:t> del plan al momento de </a:t>
            </a:r>
            <a:r>
              <a:rPr lang="en-US" sz="800" i="1" dirty="0" err="1">
                <a:solidFill>
                  <a:srgbClr val="374151"/>
                </a:solidFill>
              </a:rPr>
              <a:t>agendar</a:t>
            </a:r>
            <a:r>
              <a:rPr lang="en-US" sz="800" i="1" dirty="0">
                <a:solidFill>
                  <a:srgbClr val="374151"/>
                </a:solidFill>
              </a:rPr>
              <a:t> o al </a:t>
            </a:r>
            <a:r>
              <a:rPr lang="en-US" sz="800" i="1" dirty="0" err="1">
                <a:solidFill>
                  <a:srgbClr val="374151"/>
                </a:solidFill>
              </a:rPr>
              <a:t>agendar</a:t>
            </a:r>
            <a:r>
              <a:rPr lang="en-US" sz="800" i="1" dirty="0">
                <a:solidFill>
                  <a:srgbClr val="374151"/>
                </a:solidFill>
              </a:rPr>
              <a:t> </a:t>
            </a:r>
            <a:r>
              <a:rPr lang="en-US" sz="800" i="1" dirty="0" err="1">
                <a:solidFill>
                  <a:srgbClr val="374151"/>
                </a:solidFill>
              </a:rPr>
              <a:t>reconsulta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28600" y="3730752"/>
            <a:ext cx="868680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64" name="Text 62"/>
          <p:cNvSpPr/>
          <p:nvPr/>
        </p:nvSpPr>
        <p:spPr>
          <a:xfrm>
            <a:off x="228600" y="3730752"/>
            <a:ext cx="19202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74151"/>
                </a:solidFill>
              </a:rPr>
              <a:t>Imagen Médica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2148840" y="373075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</a:rPr>
              <a:t>40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3154680" y="373075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85FA5"/>
                </a:solidFill>
              </a:rPr>
              <a:t>10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206240" y="373075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9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120640" y="373075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1.1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6126480" y="3730752"/>
            <a:ext cx="34747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374151"/>
                </a:solidFill>
              </a:rPr>
              <a:t>Mantener y optimizar — mayor tráfico de visitas del equipo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228600" y="4078224"/>
            <a:ext cx="8686800" cy="32004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71" name="Text 69"/>
          <p:cNvSpPr/>
          <p:nvPr/>
        </p:nvSpPr>
        <p:spPr>
          <a:xfrm>
            <a:off x="228600" y="4078224"/>
            <a:ext cx="19202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TOTAL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2148840" y="407822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800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3154680" y="4078224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200 / sem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228600" y="4425696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i="1" dirty="0">
                <a:solidFill>
                  <a:srgbClr val="185FA5"/>
                </a:solidFill>
              </a:rPr>
              <a:t>Meta semanal del equipo: 200 suscripciones  ·  Si cumplimos semana a semana, el mes se logra solo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486400" cy="5486400"/>
          </a:xfrm>
          <a:prstGeom prst="line">
            <a:avLst/>
          </a:prstGeom>
          <a:solidFill>
            <a:srgbClr val="1E293B">
              <a:alpha val="50000"/>
            </a:srgbClr>
          </a:solidFill>
          <a:ln w="12700">
            <a:solidFill>
              <a:srgbClr val="1E293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line">
            <a:avLst/>
          </a:prstGeom>
          <a:solidFill>
            <a:srgbClr val="0C2A4A">
              <a:alpha val="40000"/>
            </a:srgbClr>
          </a:solidFill>
          <a:ln w="12700">
            <a:solidFill>
              <a:srgbClr val="0C2A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4" name="Text 2"/>
          <p:cNvSpPr/>
          <p:nvPr/>
        </p:nvSpPr>
        <p:spPr>
          <a:xfrm>
            <a:off x="27432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SUGIERO?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3200400" cy="36576"/>
          </a:xfrm>
          <a:prstGeom prst="rect">
            <a:avLst/>
          </a:prstGeom>
          <a:solidFill>
            <a:srgbClr val="4DA6FF"/>
          </a:solidFill>
          <a:ln w="12700">
            <a:solidFill>
              <a:srgbClr val="4DA6FF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6" name="Text 4"/>
          <p:cNvSpPr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2743200" cy="2103120"/>
          </a:xfrm>
          <a:prstGeom prst="rect">
            <a:avLst/>
          </a:prstGeom>
          <a:solidFill>
            <a:srgbClr val="0C2A3A"/>
          </a:solidFill>
          <a:ln w="12700">
            <a:solidFill>
              <a:srgbClr val="67E8F9">
                <a:alpha val="5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2743200" cy="347472"/>
          </a:xfrm>
          <a:prstGeom prst="rect">
            <a:avLst/>
          </a:prstGeom>
          <a:solidFill>
            <a:srgbClr val="67E8F9">
              <a:alpha val="80000"/>
            </a:srgbClr>
          </a:solidFill>
          <a:ln w="12700">
            <a:solidFill>
              <a:srgbClr val="67E8F9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05840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12648" y="960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</a:rPr>
              <a:t>SUGERENCIA 1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32004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7E8F9"/>
                </a:solidFill>
              </a:rPr>
              <a:t>Semáforo semanal de áreas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20040" y="17830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Cada lunes: </a:t>
            </a:r>
            <a:r>
              <a:rPr lang="en-US" sz="1000" dirty="0" err="1">
                <a:solidFill>
                  <a:srgbClr val="E2E8F0"/>
                </a:solidFill>
              </a:rPr>
              <a:t>Publicar</a:t>
            </a:r>
            <a:r>
              <a:rPr lang="en-US" sz="1000" dirty="0">
                <a:solidFill>
                  <a:srgbClr val="E2E8F0"/>
                </a:solidFill>
              </a:rPr>
              <a:t> en el </a:t>
            </a:r>
            <a:r>
              <a:rPr lang="en-US" sz="1000" dirty="0" err="1">
                <a:solidFill>
                  <a:srgbClr val="E2E8F0"/>
                </a:solidFill>
              </a:rPr>
              <a:t>grupo</a:t>
            </a:r>
            <a:r>
              <a:rPr lang="en-US" sz="1000" dirty="0">
                <a:solidFill>
                  <a:srgbClr val="E2E8F0"/>
                </a:solidFill>
              </a:rPr>
              <a:t> </a:t>
            </a:r>
            <a:r>
              <a:rPr lang="en-US" sz="1000" dirty="0" err="1">
                <a:solidFill>
                  <a:srgbClr val="E2E8F0"/>
                </a:solidFill>
              </a:rPr>
              <a:t>resultados</a:t>
            </a:r>
            <a:r>
              <a:rPr lang="en-US" sz="1000" dirty="0">
                <a:solidFill>
                  <a:srgbClr val="E2E8F0"/>
                </a:solidFill>
              </a:rPr>
              <a:t> de la </a:t>
            </a:r>
            <a:r>
              <a:rPr lang="en-US" sz="1000" dirty="0" err="1">
                <a:solidFill>
                  <a:srgbClr val="E2E8F0"/>
                </a:solidFill>
              </a:rPr>
              <a:t>seman</a:t>
            </a:r>
            <a:r>
              <a:rPr lang="en-US" sz="1000" dirty="0">
                <a:solidFill>
                  <a:srgbClr val="E2E8F0"/>
                </a:solidFill>
              </a:rPr>
              <a:t> anterior. En 5 minutos todo el equipo sabe dónde está. Alto impacto.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154680" y="960120"/>
            <a:ext cx="2743200" cy="2103120"/>
          </a:xfrm>
          <a:prstGeom prst="rect">
            <a:avLst/>
          </a:prstGeom>
          <a:solidFill>
            <a:srgbClr val="1C1505"/>
          </a:solidFill>
          <a:ln w="12700">
            <a:solidFill>
              <a:srgbClr val="FCD34D">
                <a:alpha val="5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sp>
        <p:nvSpPr>
          <p:cNvPr id="14" name="Shape 11"/>
          <p:cNvSpPr/>
          <p:nvPr/>
        </p:nvSpPr>
        <p:spPr>
          <a:xfrm>
            <a:off x="3154680" y="960120"/>
            <a:ext cx="2743200" cy="347472"/>
          </a:xfrm>
          <a:prstGeom prst="rect">
            <a:avLst/>
          </a:prstGeom>
          <a:solidFill>
            <a:srgbClr val="FCD34D">
              <a:alpha val="80000"/>
            </a:srgbClr>
          </a:solidFill>
          <a:ln w="12700">
            <a:solidFill>
              <a:srgbClr val="FCD34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005840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38728" y="960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</a:rPr>
              <a:t>SUGERENCIA 2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7" name="Text 13"/>
          <p:cNvSpPr/>
          <p:nvPr/>
        </p:nvSpPr>
        <p:spPr>
          <a:xfrm>
            <a:off x="324612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CD34D"/>
                </a:solidFill>
              </a:rPr>
              <a:t>Embajadora + mención mensual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246120" y="17830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Mantener el premio trimestral. Agregar solo una mención en el grupo: 'El área que más creció este mes fue X con Y ventas'. Eso no cuesta nada y genera competencia sana.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080760" y="960120"/>
            <a:ext cx="2743200" cy="2103120"/>
          </a:xfrm>
          <a:prstGeom prst="rect">
            <a:avLst/>
          </a:prstGeom>
          <a:solidFill>
            <a:srgbClr val="052E16"/>
          </a:solidFill>
          <a:ln w="12700">
            <a:solidFill>
              <a:srgbClr val="86EFAC">
                <a:alpha val="5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sp>
        <p:nvSpPr>
          <p:cNvPr id="20" name="Shape 16"/>
          <p:cNvSpPr/>
          <p:nvPr/>
        </p:nvSpPr>
        <p:spPr>
          <a:xfrm>
            <a:off x="6080760" y="960120"/>
            <a:ext cx="2743200" cy="347472"/>
          </a:xfrm>
          <a:prstGeom prst="rect">
            <a:avLst/>
          </a:prstGeom>
          <a:solidFill>
            <a:srgbClr val="86EFAC">
              <a:alpha val="80000"/>
            </a:srgbClr>
          </a:solidFill>
          <a:ln w="12700">
            <a:solidFill>
              <a:srgbClr val="86EFA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005840"/>
            <a:ext cx="237744" cy="23774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64808" y="960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</a:rPr>
              <a:t>SUGERENCIA 3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3" name="Text 18"/>
          <p:cNvSpPr/>
          <p:nvPr/>
        </p:nvSpPr>
        <p:spPr>
          <a:xfrm>
            <a:off x="617220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86EFAC"/>
                </a:solidFill>
              </a:rPr>
              <a:t>Canal empresas — particulares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172200" y="17830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</a:rPr>
              <a:t>Proponer a RRHH de 3–5 empresas medianas el plan ambulatorio para sus empleados sin seguro. Bs 99/persona/mes es un beneficio real y asequible. Un convenio = 30–50 nuevas suscripciones.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228600" y="3200400"/>
            <a:ext cx="868680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BO"/>
          </a:p>
        </p:txBody>
      </p:sp>
      <p:sp>
        <p:nvSpPr>
          <p:cNvPr id="26" name="Text 21"/>
          <p:cNvSpPr/>
          <p:nvPr/>
        </p:nvSpPr>
        <p:spPr>
          <a:xfrm>
            <a:off x="320040" y="32644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93C5FD"/>
                </a:solidFill>
              </a:rPr>
              <a:t>MIS COMPROMISOS CONCRETOS PARA MAYO</a:t>
            </a:r>
            <a:endParaRPr lang="en-US" sz="95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3657600"/>
            <a:ext cx="182880" cy="1828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94360" y="3630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Publicar el ranking de ventas por área todos los lunes en el grupo del equipo.</a:t>
            </a:r>
            <a:endParaRPr lang="en-US" sz="9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3931920"/>
            <a:ext cx="182880" cy="1828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94360" y="3904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Realizar una sesión de refuerzo de 20 min con cada equipo.</a:t>
            </a:r>
            <a:endParaRPr lang="en-US" sz="90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4206240"/>
            <a:ext cx="182880" cy="1828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94360" y="4178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Actualizar el speech incluyendo la diferenciación para pacientes particulares vs. con seguro.</a:t>
            </a:r>
            <a:endParaRPr lang="en-US" sz="900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4480560"/>
            <a:ext cx="182880" cy="18288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94360" y="44531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Verificar que todos los módulos tengan folletos vigentes y QR funcional antes del 1° de Mayo.</a:t>
            </a:r>
            <a:endParaRPr lang="en-US" sz="900" dirty="0"/>
          </a:p>
        </p:txBody>
      </p:sp>
      <p:sp>
        <p:nvSpPr>
          <p:cNvPr id="35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s-BO"/>
          </a:p>
        </p:txBody>
      </p:sp>
      <p:sp>
        <p:nvSpPr>
          <p:cNvPr id="36" name="Text 27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</a:rPr>
              <a:t>Clínica Foianini  ·  Programa Vitalia 2026  ·  Plan de Acción  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1309</Words>
  <Application>Microsoft Office PowerPoint</Application>
  <PresentationFormat>Presentación en pantalla (16:9)</PresentationFormat>
  <Paragraphs>254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Acción Vitalia 2026</dc:title>
  <dc:subject>PptxGenJS Presentation</dc:subject>
  <dc:creator>PptxGenJS</dc:creator>
  <cp:lastModifiedBy>banina antezana</cp:lastModifiedBy>
  <cp:revision>5</cp:revision>
  <dcterms:created xsi:type="dcterms:W3CDTF">2026-04-19T23:40:41Z</dcterms:created>
  <dcterms:modified xsi:type="dcterms:W3CDTF">2026-04-20T23:58:20Z</dcterms:modified>
</cp:coreProperties>
</file>